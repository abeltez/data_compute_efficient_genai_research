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Don't read the title. Say: 'Three well-known tricks make training cheaper. Everybody uses them together. Nobody had checked whether their savings actually add up. I did — 48 training runs, one CPU core.' Then move.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Deliver this straight, not apologetically. The point is not modesty, it's provenance: this came out of the training programme. Land 'this deck is the receipt' and go. Flag that you will end with a proposal you want their opinion on — it buys attention for 20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 Pause after 'on a laptop.' This is the hook for the whole motivation. The one sentence that matters: nothing magic happened, a pile of efficiency techniques happened — and they are almost always reported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Expect a question here: 'why not QLoRA / DoRA / something from this year?' Answer with the timeline: I needed techniques whose solo effects are already well-characterised, so that any surprise in the combination is attributable to the interaction, not to an unstable technique. The design is technique-agnostic — swapping in QLoRA changes flags, not machinery.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~70s. Spend the analogies here, they pay off for the rest of the talk. Curriculum = you don't start a maths course with calculus. LoRA = sticky notes in the margin instead of rewriting the book. Distillation = learning from a senior who already made the mistakes. Plant the LoRA one carefully — you cash it in on slide 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The checkout analogy is the whole motivation in one image. Then hit the right-hand column: CLPD, POCL, TSCL all compare a combination against an uncomposed baseline. That answers 'better than nothing?' — never 'better than its parts?'. This is the gap, in their own literature.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This is the intellectual core; slow down. Read the formula out loud. Combination = effects side by side, addition is honest. Composition = each technique changes the input of the next, so the sum is a guess. Concretely: the curriculum changes what LoRA sees; LoRA changes how much the student can absorb from the teacher.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 Three worlds — synergy, additivity, interference. Four one-factor experiments produce the first three bars and then assume the fourth. You cannot distinguish these three pictures without running the combination. That is why the design has to be factorial.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Walk the eight cells left to right; name the naive baseline (blue outline) and the full method (dark, red outline). Then the arithmetic: 8 cells x 3 seeds x 2 benchmarks = 48 runs. Stress the control: everything else identical — architecture, LR, batch, steps, seeds.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Anticipate 'four cells would have been cheaper.' Four gives you main effects and nothing else — no interaction term, and no independent estimate of noise. Eight costs exactly double and produces the composition gap plus the seed-spread noise floor. No cheaper design produces that number.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Keep this brisk — it is setup, not argument. Emphasise two things: the teacher is trained from scratch on the same data and then frozen (it is NOT a pretrained model), and the whole study runs in 35-45 minutes on one CPU core. Anyone in the room can reproduce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~50s. This slide buys you credibility for every number that follows. Then tell the bug story honestly: the adapters existed, the parameter count was right, the loss curves looked beautiful — and no gradient was flowing. Those results were fiction. verify.py is why I am not defending them today.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Point at blue (naive) and red (full CG-PED). On the synthetic benchmark everything is within a hair. On real text the composed method is 0.254 nats WORSE than doing nothing clever. Do not soften it — the rest of the talk explains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The headline. Left panel: only one main effect is large, and it is the wrong sign. Right panel: observed minus additive prediction is -0.0003 and +0.0008, against seed noise of 0.0055 and 0.0099. The interaction is 12-18x smaller than the noise around it. They compose additively — which is exactly why the whole thing loses: nothing compounds, so you get the sum, and the sum is negative.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~70s. Read the table as a price list. Curriculum: inside the noise and it flips sign between benchmarks — free, and worth what you pay. LoRA: 28x the noise on real text, the dominant term, and it is a cost. Distillation: the only consistent win. Then cash in the analogy: sticky notes only save time if the book is already written. From scratch, the book is blank, and rank 4 has to write all of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Pre-empt the 'you flattered yourself with equal steps' objection by raising it first. A CG-PED step costs 2.1-2.3x a naive step because the teacher runs too. In the naive run's wall clock, CG-PED affords only 131/139 steps. Synthetic catches up on all three seeds by ~400 steps; real text catches up on one seed out of three by 900.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Frame this as attacking your own result. The fair objection is that LoRA was designed for adapting a pretrained model, not for from-scratch training — so we pretrained on Shakespeare and adapted to Austen. LoRA's cost drops 71%, from +0.286 to +0.082. But 0.082 is still 3.7x the noise floor. Better is not free, and the recommendation does not flip.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If you only get one minute in the Q&amp;A, this is the slide. The contribution is the design and the quantity it produces, not a new technique. Close with technique-agnosticism: QLoRA, DoRA, data pruning — the cells change, the machinery does not.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State the limits before the panel does. The two that matter: everything is from scratch, so LoRA is measured outside its home regime; and additivity is established here, at this scale — nobody has shown it holds at 7B. Each limitation maps to a next experiment the codebase already supports.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Land the practical takeaway. The additivity result is genuinely useful: if effects add, three single-factor runs predict all eight cells — a combinatorial budget becomes linear. Then the honest ending: my own data says do not use my composed method. Say it plainly; do not reframe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Shift energy — this is the ask, not a result. TwinAI is the same data-efficiency question moved from tokens to lifetimes: if 10% of a history buys 70% of the fidelity, most of a life is redundant data. Stress feasibility (synthetic individuals first, no foundation model trained) and ethics (consent, synthetic data first). Then ask them directly whether it is doable.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Close on the arc, then stop talking. Invite questions and explicitly invite their verdict on TwinAI — it turns Q&amp;A into a conversation rather than an interrogation.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70432"/>
            <a:ext cx="10058400" cy="310896"/>
          </a:xfrm>
          <a:prstGeom prst="rect">
            <a:avLst/>
          </a:prstGeom>
          <a:noFill/>
        </p:spPr>
        <p:txBody>
          <a:bodyPr wrap="square" lIns="0" rIns="0" tIns="0" bIns="0" anchor="t">
            <a:noAutofit/>
          </a:bodyPr>
          <a:lstStyle/>
          <a:p>
            <a:pPr algn="l">
              <a:lnSpc>
                <a:spcPct val="100000"/>
              </a:lnSpc>
            </a:pPr>
            <a:r>
              <a:rPr sz="1300" b="1" i="0">
                <a:solidFill>
                  <a:srgbClr val="F0B429"/>
                </a:solidFill>
                <a:latin typeface="Arial"/>
              </a:rPr>
              <a:t>RESEARCH DEFENSE  ·  ABEL TEZARE</a:t>
            </a:r>
          </a:p>
        </p:txBody>
      </p:sp>
      <p:sp>
        <p:nvSpPr>
          <p:cNvPr id="5" name="TextBox 4"/>
          <p:cNvSpPr txBox="1"/>
          <p:nvPr/>
        </p:nvSpPr>
        <p:spPr>
          <a:xfrm>
            <a:off x="914400" y="1783080"/>
            <a:ext cx="10241280" cy="2011680"/>
          </a:xfrm>
          <a:prstGeom prst="rect">
            <a:avLst/>
          </a:prstGeom>
          <a:noFill/>
        </p:spPr>
        <p:txBody>
          <a:bodyPr wrap="square" lIns="0" rIns="0" tIns="0" bIns="0" anchor="t">
            <a:noAutofit/>
          </a:bodyPr>
          <a:lstStyle/>
          <a:p>
            <a:pPr algn="l">
              <a:lnSpc>
                <a:spcPct val="106000"/>
              </a:lnSpc>
            </a:pPr>
            <a:r>
              <a:rPr sz="5200" b="1" i="0">
                <a:solidFill>
                  <a:srgbClr val="FFFFFF"/>
                </a:solidFill>
                <a:latin typeface="Arial"/>
              </a:rPr>
              <a:t>Do three cost-saving
tricks </a:t>
            </a:r>
            <a:r>
              <a:rPr sz="5200" b="1" i="0">
                <a:solidFill>
                  <a:srgbClr val="F0B429"/>
                </a:solidFill>
                <a:latin typeface="Arial"/>
              </a:rPr>
              <a:t>add up</a:t>
            </a:r>
            <a:r>
              <a:rPr sz="5200" b="1" i="0">
                <a:solidFill>
                  <a:srgbClr val="FFFFFF"/>
                </a:solidFill>
                <a:latin typeface="Arial"/>
              </a:rPr>
              <a:t>?</a:t>
            </a:r>
          </a:p>
        </p:txBody>
      </p:sp>
      <p:sp>
        <p:nvSpPr>
          <p:cNvPr id="6" name="Rectangle 5"/>
          <p:cNvSpPr/>
          <p:nvPr/>
        </p:nvSpPr>
        <p:spPr>
          <a:xfrm>
            <a:off x="914400" y="3858768"/>
            <a:ext cx="1280160" cy="50292"/>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187952"/>
            <a:ext cx="9692640" cy="914400"/>
          </a:xfrm>
          <a:prstGeom prst="rect">
            <a:avLst/>
          </a:prstGeom>
          <a:noFill/>
        </p:spPr>
        <p:txBody>
          <a:bodyPr wrap="square" lIns="0" rIns="0" tIns="0" bIns="0" anchor="t">
            <a:noAutofit/>
          </a:bodyPr>
          <a:lstStyle/>
          <a:p>
            <a:pPr algn="l">
              <a:lnSpc>
                <a:spcPct val="125000"/>
              </a:lnSpc>
            </a:pPr>
            <a:r>
              <a:rPr sz="1900" b="1" i="0">
                <a:solidFill>
                  <a:srgbClr val="FFFFFF"/>
                </a:solidFill>
                <a:latin typeface="Arial"/>
              </a:rPr>
              <a:t>CG-PED</a:t>
            </a:r>
            <a:r>
              <a:rPr sz="1900" b="0" i="0">
                <a:solidFill>
                  <a:srgbClr val="B9C6D8"/>
                </a:solidFill>
                <a:latin typeface="Arial"/>
              </a:rPr>
              <a:t>  —  Curriculum Learning  ×  LoRA  ×  Knowledge Distillation, tested as a full 2³ factorial</a:t>
            </a:r>
          </a:p>
        </p:txBody>
      </p:sp>
      <p:sp>
        <p:nvSpPr>
          <p:cNvPr id="8" name="TextBox 7"/>
          <p:cNvSpPr txBox="1"/>
          <p:nvPr/>
        </p:nvSpPr>
        <p:spPr>
          <a:xfrm>
            <a:off x="914400" y="5166360"/>
            <a:ext cx="1737360" cy="502920"/>
          </a:xfrm>
          <a:prstGeom prst="rect">
            <a:avLst/>
          </a:prstGeom>
          <a:noFill/>
        </p:spPr>
        <p:txBody>
          <a:bodyPr wrap="square" lIns="0" rIns="0" tIns="0" bIns="0" anchor="t">
            <a:noAutofit/>
          </a:bodyPr>
          <a:lstStyle/>
          <a:p>
            <a:pPr algn="l">
              <a:lnSpc>
                <a:spcPct val="100000"/>
              </a:lnSpc>
            </a:pPr>
            <a:r>
              <a:rPr sz="3000" b="1" i="0">
                <a:solidFill>
                  <a:srgbClr val="FFFFFF"/>
                </a:solidFill>
                <a:latin typeface="Arial"/>
              </a:rPr>
              <a:t>48</a:t>
            </a:r>
          </a:p>
        </p:txBody>
      </p:sp>
      <p:sp>
        <p:nvSpPr>
          <p:cNvPr id="9" name="TextBox 8"/>
          <p:cNvSpPr txBox="1"/>
          <p:nvPr/>
        </p:nvSpPr>
        <p:spPr>
          <a:xfrm>
            <a:off x="914400" y="5650992"/>
            <a:ext cx="1737360" cy="274320"/>
          </a:xfrm>
          <a:prstGeom prst="rect">
            <a:avLst/>
          </a:prstGeom>
          <a:noFill/>
        </p:spPr>
        <p:txBody>
          <a:bodyPr wrap="square" lIns="0" rIns="0" tIns="0" bIns="0" anchor="t">
            <a:noAutofit/>
          </a:bodyPr>
          <a:lstStyle/>
          <a:p>
            <a:pPr algn="l">
              <a:lnSpc>
                <a:spcPct val="100000"/>
              </a:lnSpc>
            </a:pPr>
            <a:r>
              <a:rPr sz="1150" b="0" i="0">
                <a:solidFill>
                  <a:srgbClr val="7D8FA8"/>
                </a:solidFill>
                <a:latin typeface="Arial"/>
              </a:rPr>
              <a:t>training runs</a:t>
            </a:r>
          </a:p>
        </p:txBody>
      </p:sp>
      <p:sp>
        <p:nvSpPr>
          <p:cNvPr id="10" name="TextBox 9"/>
          <p:cNvSpPr txBox="1"/>
          <p:nvPr/>
        </p:nvSpPr>
        <p:spPr>
          <a:xfrm>
            <a:off x="2889504" y="5166360"/>
            <a:ext cx="1737360" cy="502920"/>
          </a:xfrm>
          <a:prstGeom prst="rect">
            <a:avLst/>
          </a:prstGeom>
          <a:noFill/>
        </p:spPr>
        <p:txBody>
          <a:bodyPr wrap="square" lIns="0" rIns="0" tIns="0" bIns="0" anchor="t">
            <a:noAutofit/>
          </a:bodyPr>
          <a:lstStyle/>
          <a:p>
            <a:pPr algn="l">
              <a:lnSpc>
                <a:spcPct val="100000"/>
              </a:lnSpc>
            </a:pPr>
            <a:r>
              <a:rPr sz="3000" b="1" i="0">
                <a:solidFill>
                  <a:srgbClr val="FFFFFF"/>
                </a:solidFill>
                <a:latin typeface="Arial"/>
              </a:rPr>
              <a:t>8</a:t>
            </a:r>
          </a:p>
        </p:txBody>
      </p:sp>
      <p:sp>
        <p:nvSpPr>
          <p:cNvPr id="11" name="TextBox 10"/>
          <p:cNvSpPr txBox="1"/>
          <p:nvPr/>
        </p:nvSpPr>
        <p:spPr>
          <a:xfrm>
            <a:off x="2889504" y="5650992"/>
            <a:ext cx="1737360" cy="274320"/>
          </a:xfrm>
          <a:prstGeom prst="rect">
            <a:avLst/>
          </a:prstGeom>
          <a:noFill/>
        </p:spPr>
        <p:txBody>
          <a:bodyPr wrap="square" lIns="0" rIns="0" tIns="0" bIns="0" anchor="t">
            <a:noAutofit/>
          </a:bodyPr>
          <a:lstStyle/>
          <a:p>
            <a:pPr algn="l">
              <a:lnSpc>
                <a:spcPct val="100000"/>
              </a:lnSpc>
            </a:pPr>
            <a:r>
              <a:rPr sz="1150" b="0" i="0">
                <a:solidFill>
                  <a:srgbClr val="7D8FA8"/>
                </a:solidFill>
                <a:latin typeface="Arial"/>
              </a:rPr>
              <a:t>factorial cells</a:t>
            </a:r>
          </a:p>
        </p:txBody>
      </p:sp>
      <p:sp>
        <p:nvSpPr>
          <p:cNvPr id="12" name="TextBox 11"/>
          <p:cNvSpPr txBox="1"/>
          <p:nvPr/>
        </p:nvSpPr>
        <p:spPr>
          <a:xfrm>
            <a:off x="4864608" y="5166360"/>
            <a:ext cx="1737360" cy="502920"/>
          </a:xfrm>
          <a:prstGeom prst="rect">
            <a:avLst/>
          </a:prstGeom>
          <a:noFill/>
        </p:spPr>
        <p:txBody>
          <a:bodyPr wrap="square" lIns="0" rIns="0" tIns="0" bIns="0" anchor="t">
            <a:noAutofit/>
          </a:bodyPr>
          <a:lstStyle/>
          <a:p>
            <a:pPr algn="l">
              <a:lnSpc>
                <a:spcPct val="100000"/>
              </a:lnSpc>
            </a:pPr>
            <a:r>
              <a:rPr sz="3000" b="1" i="0">
                <a:solidFill>
                  <a:srgbClr val="FFFFFF"/>
                </a:solidFill>
                <a:latin typeface="Arial"/>
              </a:rPr>
              <a:t>3</a:t>
            </a:r>
          </a:p>
        </p:txBody>
      </p:sp>
      <p:sp>
        <p:nvSpPr>
          <p:cNvPr id="13" name="TextBox 12"/>
          <p:cNvSpPr txBox="1"/>
          <p:nvPr/>
        </p:nvSpPr>
        <p:spPr>
          <a:xfrm>
            <a:off x="4864608" y="5650992"/>
            <a:ext cx="1737360" cy="274320"/>
          </a:xfrm>
          <a:prstGeom prst="rect">
            <a:avLst/>
          </a:prstGeom>
          <a:noFill/>
        </p:spPr>
        <p:txBody>
          <a:bodyPr wrap="square" lIns="0" rIns="0" tIns="0" bIns="0" anchor="t">
            <a:noAutofit/>
          </a:bodyPr>
          <a:lstStyle/>
          <a:p>
            <a:pPr algn="l">
              <a:lnSpc>
                <a:spcPct val="100000"/>
              </a:lnSpc>
            </a:pPr>
            <a:r>
              <a:rPr sz="1150" b="0" i="0">
                <a:solidFill>
                  <a:srgbClr val="7D8FA8"/>
                </a:solidFill>
                <a:latin typeface="Arial"/>
              </a:rPr>
              <a:t>seeds</a:t>
            </a:r>
          </a:p>
        </p:txBody>
      </p:sp>
      <p:sp>
        <p:nvSpPr>
          <p:cNvPr id="14" name="TextBox 13"/>
          <p:cNvSpPr txBox="1"/>
          <p:nvPr/>
        </p:nvSpPr>
        <p:spPr>
          <a:xfrm>
            <a:off x="6839712" y="5166360"/>
            <a:ext cx="1737360" cy="502920"/>
          </a:xfrm>
          <a:prstGeom prst="rect">
            <a:avLst/>
          </a:prstGeom>
          <a:noFill/>
        </p:spPr>
        <p:txBody>
          <a:bodyPr wrap="square" lIns="0" rIns="0" tIns="0" bIns="0" anchor="t">
            <a:noAutofit/>
          </a:bodyPr>
          <a:lstStyle/>
          <a:p>
            <a:pPr algn="l">
              <a:lnSpc>
                <a:spcPct val="100000"/>
              </a:lnSpc>
            </a:pPr>
            <a:r>
              <a:rPr sz="3000" b="1" i="0">
                <a:solidFill>
                  <a:srgbClr val="FFFFFF"/>
                </a:solidFill>
                <a:latin typeface="Arial"/>
              </a:rPr>
              <a:t>2</a:t>
            </a:r>
          </a:p>
        </p:txBody>
      </p:sp>
      <p:sp>
        <p:nvSpPr>
          <p:cNvPr id="15" name="TextBox 14"/>
          <p:cNvSpPr txBox="1"/>
          <p:nvPr/>
        </p:nvSpPr>
        <p:spPr>
          <a:xfrm>
            <a:off x="6839712" y="5650992"/>
            <a:ext cx="1737360" cy="274320"/>
          </a:xfrm>
          <a:prstGeom prst="rect">
            <a:avLst/>
          </a:prstGeom>
          <a:noFill/>
        </p:spPr>
        <p:txBody>
          <a:bodyPr wrap="square" lIns="0" rIns="0" tIns="0" bIns="0" anchor="t">
            <a:noAutofit/>
          </a:bodyPr>
          <a:lstStyle/>
          <a:p>
            <a:pPr algn="l">
              <a:lnSpc>
                <a:spcPct val="100000"/>
              </a:lnSpc>
            </a:pPr>
            <a:r>
              <a:rPr sz="1150" b="0" i="0">
                <a:solidFill>
                  <a:srgbClr val="7D8FA8"/>
                </a:solidFill>
                <a:latin typeface="Arial"/>
              </a:rPr>
              <a:t>benchmarks</a:t>
            </a:r>
          </a:p>
        </p:txBody>
      </p:sp>
      <p:sp>
        <p:nvSpPr>
          <p:cNvPr id="16" name="TextBox 15"/>
          <p:cNvSpPr txBox="1"/>
          <p:nvPr/>
        </p:nvSpPr>
        <p:spPr>
          <a:xfrm>
            <a:off x="8814816" y="5166360"/>
            <a:ext cx="1737360" cy="502920"/>
          </a:xfrm>
          <a:prstGeom prst="rect">
            <a:avLst/>
          </a:prstGeom>
          <a:noFill/>
        </p:spPr>
        <p:txBody>
          <a:bodyPr wrap="square" lIns="0" rIns="0" tIns="0" bIns="0" anchor="t">
            <a:noAutofit/>
          </a:bodyPr>
          <a:lstStyle/>
          <a:p>
            <a:pPr algn="l">
              <a:lnSpc>
                <a:spcPct val="100000"/>
              </a:lnSpc>
            </a:pPr>
            <a:r>
              <a:rPr sz="3000" b="1" i="0">
                <a:solidFill>
                  <a:srgbClr val="FFFFFF"/>
                </a:solidFill>
                <a:latin typeface="Arial"/>
              </a:rPr>
              <a:t>1</a:t>
            </a:r>
          </a:p>
        </p:txBody>
      </p:sp>
      <p:sp>
        <p:nvSpPr>
          <p:cNvPr id="17" name="TextBox 16"/>
          <p:cNvSpPr txBox="1"/>
          <p:nvPr/>
        </p:nvSpPr>
        <p:spPr>
          <a:xfrm>
            <a:off x="8814816" y="5650992"/>
            <a:ext cx="1737360" cy="274320"/>
          </a:xfrm>
          <a:prstGeom prst="rect">
            <a:avLst/>
          </a:prstGeom>
          <a:noFill/>
        </p:spPr>
        <p:txBody>
          <a:bodyPr wrap="square" lIns="0" rIns="0" tIns="0" bIns="0" anchor="t">
            <a:noAutofit/>
          </a:bodyPr>
          <a:lstStyle/>
          <a:p>
            <a:pPr algn="l">
              <a:lnSpc>
                <a:spcPct val="100000"/>
              </a:lnSpc>
            </a:pPr>
            <a:r>
              <a:rPr sz="1150" b="0" i="0">
                <a:solidFill>
                  <a:srgbClr val="7D8FA8"/>
                </a:solidFill>
                <a:latin typeface="Arial"/>
              </a:rPr>
              <a:t>CPU core</a:t>
            </a:r>
          </a:p>
        </p:txBody>
      </p:sp>
      <p:sp>
        <p:nvSpPr>
          <p:cNvPr id="18" name="TextBox 17"/>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53627A"/>
                </a:solidFill>
                <a:latin typeface="Arial"/>
              </a:rPr>
              <a:t>CG-PED</a:t>
            </a:r>
          </a:p>
        </p:txBody>
      </p:sp>
      <p:sp>
        <p:nvSpPr>
          <p:cNvPr id="19" name="TextBox 18"/>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53627A"/>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BEFORE THE SCIENCE</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800" b="1" i="0">
                <a:solidFill>
                  <a:srgbClr val="16202E"/>
                </a:solidFill>
                <a:latin typeface="Arial"/>
              </a:rPr>
              <a:t>Where this project actually came from</a:t>
            </a:r>
          </a:p>
        </p:txBody>
      </p:sp>
      <p:sp>
        <p:nvSpPr>
          <p:cNvPr id="5" name="Rectangle 4"/>
          <p:cNvSpPr/>
          <p:nvPr/>
        </p:nvSpPr>
        <p:spPr>
          <a:xfrm>
            <a:off x="777240" y="1874519"/>
            <a:ext cx="1280160" cy="50292"/>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2436876"/>
            <a:ext cx="96012" cy="96012"/>
          </a:xfrm>
          <a:prstGeom prst="ellipse">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331720"/>
            <a:ext cx="6382512" cy="868680"/>
          </a:xfrm>
          <a:prstGeom prst="rect">
            <a:avLst/>
          </a:prstGeom>
          <a:noFill/>
        </p:spPr>
        <p:txBody>
          <a:bodyPr wrap="square" lIns="0" rIns="0" tIns="0" bIns="0" anchor="t">
            <a:noAutofit/>
          </a:bodyPr>
          <a:lstStyle/>
          <a:p>
            <a:pPr algn="l">
              <a:lnSpc>
                <a:spcPct val="118000"/>
              </a:lnSpc>
            </a:pPr>
            <a:r>
              <a:rPr sz="1700" b="0" i="0">
                <a:solidFill>
                  <a:srgbClr val="334155"/>
                </a:solidFill>
                <a:latin typeface="Arial"/>
              </a:rPr>
              <a:t>Six months ago my world was </a:t>
            </a:r>
            <a:r>
              <a:rPr sz="1700" b="1" i="0">
                <a:solidFill>
                  <a:srgbClr val="16202E"/>
                </a:solidFill>
                <a:latin typeface="Arial"/>
              </a:rPr>
              <a:t>Python, DSA and web development</a:t>
            </a:r>
            <a:r>
              <a:rPr sz="1700" b="0" i="0">
                <a:solidFill>
                  <a:srgbClr val="334155"/>
                </a:solidFill>
                <a:latin typeface="Arial"/>
              </a:rPr>
              <a:t>. Machine learning was a word I had heard.</a:t>
            </a:r>
          </a:p>
        </p:txBody>
      </p:sp>
      <p:sp>
        <p:nvSpPr>
          <p:cNvPr id="8" name="Oval 7"/>
          <p:cNvSpPr/>
          <p:nvPr/>
        </p:nvSpPr>
        <p:spPr>
          <a:xfrm>
            <a:off x="777240" y="3396996"/>
            <a:ext cx="96012" cy="96012"/>
          </a:xfrm>
          <a:prstGeom prst="ellipse">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3291839"/>
            <a:ext cx="6382512" cy="868680"/>
          </a:xfrm>
          <a:prstGeom prst="rect">
            <a:avLst/>
          </a:prstGeom>
          <a:noFill/>
        </p:spPr>
        <p:txBody>
          <a:bodyPr wrap="square" lIns="0" rIns="0" tIns="0" bIns="0" anchor="t">
            <a:noAutofit/>
          </a:bodyPr>
          <a:lstStyle/>
          <a:p>
            <a:pPr algn="l">
              <a:lnSpc>
                <a:spcPct val="118000"/>
              </a:lnSpc>
            </a:pPr>
            <a:r>
              <a:rPr sz="1700" b="0" i="0">
                <a:solidFill>
                  <a:srgbClr val="334155"/>
                </a:solidFill>
                <a:latin typeface="Arial"/>
              </a:rPr>
              <a:t>Everything in this deck — the design, the code, the bugs, the negative result — came out of </a:t>
            </a:r>
            <a:r>
              <a:rPr sz="1700" b="1" i="0">
                <a:solidFill>
                  <a:srgbClr val="16202E"/>
                </a:solidFill>
                <a:latin typeface="Arial"/>
              </a:rPr>
              <a:t>the training and the projects you gave us</a:t>
            </a:r>
            <a:r>
              <a:rPr sz="1700" b="0" i="0">
                <a:solidFill>
                  <a:srgbClr val="334155"/>
                </a:solidFill>
                <a:latin typeface="Arial"/>
              </a:rPr>
              <a:t>.</a:t>
            </a:r>
          </a:p>
        </p:txBody>
      </p:sp>
      <p:sp>
        <p:nvSpPr>
          <p:cNvPr id="10" name="Oval 9"/>
          <p:cNvSpPr/>
          <p:nvPr/>
        </p:nvSpPr>
        <p:spPr>
          <a:xfrm>
            <a:off x="777240" y="4357116"/>
            <a:ext cx="96012" cy="96012"/>
          </a:xfrm>
          <a:prstGeom prst="ellipse">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4251959"/>
            <a:ext cx="6382512" cy="868680"/>
          </a:xfrm>
          <a:prstGeom prst="rect">
            <a:avLst/>
          </a:prstGeom>
          <a:noFill/>
        </p:spPr>
        <p:txBody>
          <a:bodyPr wrap="square" lIns="0" rIns="0" tIns="0" bIns="0" anchor="t">
            <a:noAutofit/>
          </a:bodyPr>
          <a:lstStyle/>
          <a:p>
            <a:pPr algn="l">
              <a:lnSpc>
                <a:spcPct val="118000"/>
              </a:lnSpc>
            </a:pPr>
            <a:r>
              <a:rPr sz="1700" b="0" i="0">
                <a:solidFill>
                  <a:srgbClr val="334155"/>
                </a:solidFill>
                <a:latin typeface="Arial"/>
              </a:rPr>
              <a:t>I started behind the other trainees. I caught up. And I did not stop at the assignment.</a:t>
            </a:r>
          </a:p>
        </p:txBody>
      </p:sp>
      <p:sp>
        <p:nvSpPr>
          <p:cNvPr id="12" name="Rectangle 11"/>
          <p:cNvSpPr/>
          <p:nvPr/>
        </p:nvSpPr>
        <p:spPr>
          <a:xfrm>
            <a:off x="7818120" y="2148840"/>
            <a:ext cx="3566160" cy="23774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79" y="2514600"/>
            <a:ext cx="2834640" cy="1737360"/>
          </a:xfrm>
          <a:prstGeom prst="rect">
            <a:avLst/>
          </a:prstGeom>
          <a:noFill/>
        </p:spPr>
        <p:txBody>
          <a:bodyPr wrap="square" lIns="0" rIns="0" tIns="0" bIns="0" anchor="t">
            <a:noAutofit/>
          </a:bodyPr>
          <a:lstStyle/>
          <a:p>
            <a:pPr algn="l">
              <a:lnSpc>
                <a:spcPct val="115000"/>
              </a:lnSpc>
            </a:pPr>
            <a:r>
              <a:rPr sz="2500" b="1" i="0">
                <a:solidFill>
                  <a:srgbClr val="FFFFFF"/>
                </a:solidFill>
                <a:latin typeface="Arial"/>
              </a:rPr>
              <a:t>“This deck is
the receipt.”</a:t>
            </a:r>
          </a:p>
        </p:txBody>
      </p:sp>
      <p:sp>
        <p:nvSpPr>
          <p:cNvPr id="14" name="TextBox 13"/>
          <p:cNvSpPr txBox="1"/>
          <p:nvPr/>
        </p:nvSpPr>
        <p:spPr>
          <a:xfrm>
            <a:off x="8183879" y="3986784"/>
            <a:ext cx="2834640" cy="365760"/>
          </a:xfrm>
          <a:prstGeom prst="rect">
            <a:avLst/>
          </a:prstGeom>
          <a:noFill/>
        </p:spPr>
        <p:txBody>
          <a:bodyPr wrap="square" lIns="0" rIns="0" tIns="0" bIns="0" anchor="t">
            <a:noAutofit/>
          </a:bodyPr>
          <a:lstStyle/>
          <a:p>
            <a:pPr algn="l">
              <a:lnSpc>
                <a:spcPct val="100000"/>
              </a:lnSpc>
            </a:pPr>
            <a:r>
              <a:rPr sz="1150" b="0" i="0">
                <a:solidFill>
                  <a:srgbClr val="8FA0B6"/>
                </a:solidFill>
                <a:latin typeface="Arial"/>
              </a:rPr>
              <a:t>— and at the end, what I want to build next</a:t>
            </a:r>
          </a:p>
        </p:txBody>
      </p:sp>
      <p:sp>
        <p:nvSpPr>
          <p:cNvPr id="15" name="TextBox 14"/>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Introduction</a:t>
            </a:r>
          </a:p>
        </p:txBody>
      </p:sp>
      <p:sp>
        <p:nvSpPr>
          <p:cNvPr id="16" name="TextBox 15"/>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F0B429"/>
                </a:solidFill>
                <a:latin typeface="Arial"/>
              </a:rPr>
              <a:t>MOTIVATION</a:t>
            </a:r>
          </a:p>
        </p:txBody>
      </p:sp>
      <p:sp>
        <p:nvSpPr>
          <p:cNvPr id="4" name="TextBox 3"/>
          <p:cNvSpPr txBox="1"/>
          <p:nvPr/>
        </p:nvSpPr>
        <p:spPr>
          <a:xfrm>
            <a:off x="777240" y="1481328"/>
            <a:ext cx="10607040" cy="2560320"/>
          </a:xfrm>
          <a:prstGeom prst="rect">
            <a:avLst/>
          </a:prstGeom>
          <a:noFill/>
        </p:spPr>
        <p:txBody>
          <a:bodyPr wrap="square" lIns="0" rIns="0" tIns="0" bIns="0" anchor="t">
            <a:noAutofit/>
          </a:bodyPr>
          <a:lstStyle/>
          <a:p>
            <a:pPr algn="l">
              <a:lnSpc>
                <a:spcPct val="114000"/>
              </a:lnSpc>
              <a:spcAft>
                <a:spcPts val="1200"/>
              </a:spcAft>
            </a:pPr>
            <a:r>
              <a:rPr sz="3600" b="1" i="0">
                <a:solidFill>
                  <a:srgbClr val="8CA0BA"/>
                </a:solidFill>
                <a:latin typeface="Arial"/>
              </a:rPr>
              <a:t>In 2019 a decent model needed
a data centre.</a:t>
            </a:r>
          </a:p>
          <a:p>
            <a:pPr algn="l">
              <a:lnSpc>
                <a:spcPct val="114000"/>
              </a:lnSpc>
              <a:spcAft>
                <a:spcPts val="1200"/>
              </a:spcAft>
            </a:pPr>
            <a:r>
              <a:rPr sz="3600" b="1" i="0">
                <a:solidFill>
                  <a:srgbClr val="FFFFFF"/>
                </a:solidFill>
                <a:latin typeface="Arial"/>
              </a:rPr>
              <a:t>In 2025 people fine-tune one
on a laptop.</a:t>
            </a:r>
          </a:p>
        </p:txBody>
      </p:sp>
      <p:sp>
        <p:nvSpPr>
          <p:cNvPr id="5" name="Rectangle 4"/>
          <p:cNvSpPr/>
          <p:nvPr/>
        </p:nvSpPr>
        <p:spPr>
          <a:xfrm>
            <a:off x="777240" y="4498848"/>
            <a:ext cx="1280160" cy="50292"/>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892040"/>
            <a:ext cx="10241280" cy="1097280"/>
          </a:xfrm>
          <a:prstGeom prst="rect">
            <a:avLst/>
          </a:prstGeom>
          <a:noFill/>
        </p:spPr>
        <p:txBody>
          <a:bodyPr wrap="square" lIns="0" rIns="0" tIns="0" bIns="0" anchor="t">
            <a:noAutofit/>
          </a:bodyPr>
          <a:lstStyle/>
          <a:p>
            <a:pPr algn="l">
              <a:lnSpc>
                <a:spcPct val="130000"/>
              </a:lnSpc>
            </a:pPr>
            <a:r>
              <a:rPr sz="1950" b="0" i="0">
                <a:solidFill>
                  <a:srgbClr val="B9C6D8"/>
                </a:solidFill>
                <a:latin typeface="Arial"/>
              </a:rPr>
              <a:t>Nothing magic happened in between. </a:t>
            </a:r>
            <a:r>
              <a:rPr sz="1950" b="1" i="0">
                <a:solidFill>
                  <a:srgbClr val="F0B429"/>
                </a:solidFill>
                <a:latin typeface="Arial"/>
              </a:rPr>
              <a:t>A pile of efficiency techniques happened</a:t>
            </a:r>
            <a:r>
              <a:rPr sz="1950" b="0" i="0">
                <a:solidFill>
                  <a:srgbClr val="B9C6D8"/>
                </a:solidFill>
                <a:latin typeface="Arial"/>
              </a:rPr>
              <a:t> — and almost everyone reports them one at a time.</a:t>
            </a:r>
          </a:p>
        </p:txBody>
      </p:sp>
      <p:sp>
        <p:nvSpPr>
          <p:cNvPr id="7" name="TextBox 6"/>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53627A"/>
                </a:solidFill>
                <a:latin typeface="Arial"/>
              </a:rPr>
              <a:t>Motivation</a:t>
            </a:r>
          </a:p>
        </p:txBody>
      </p:sp>
      <p:sp>
        <p:nvSpPr>
          <p:cNvPr id="8" name="TextBox 7"/>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53627A"/>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MOTIVATION</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800" b="1" i="0">
                <a:solidFill>
                  <a:srgbClr val="16202E"/>
                </a:solidFill>
                <a:latin typeface="Arial"/>
              </a:rPr>
              <a:t>Why I deliberately studied “old” techniques</a:t>
            </a:r>
          </a:p>
        </p:txBody>
      </p:sp>
      <p:sp>
        <p:nvSpPr>
          <p:cNvPr id="5" name="Rectangle 4"/>
          <p:cNvSpPr/>
          <p:nvPr/>
        </p:nvSpPr>
        <p:spPr>
          <a:xfrm>
            <a:off x="868680" y="2423160"/>
            <a:ext cx="10424160" cy="32004"/>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60120" y="2322576"/>
            <a:ext cx="237744" cy="237744"/>
          </a:xfrm>
          <a:prstGeom prst="ellipse">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44168" y="2258568"/>
            <a:ext cx="2377440" cy="365760"/>
          </a:xfrm>
          <a:prstGeom prst="rect">
            <a:avLst/>
          </a:prstGeom>
          <a:noFill/>
        </p:spPr>
        <p:txBody>
          <a:bodyPr wrap="square" lIns="0" rIns="0" tIns="0" bIns="0" anchor="t">
            <a:noAutofit/>
          </a:bodyPr>
          <a:lstStyle/>
          <a:p>
            <a:pPr algn="l">
              <a:lnSpc>
                <a:spcPct val="100000"/>
              </a:lnSpc>
            </a:pPr>
            <a:r>
              <a:rPr sz="1700" b="1" i="0">
                <a:solidFill>
                  <a:srgbClr val="E08A2E"/>
                </a:solidFill>
                <a:latin typeface="Arial"/>
              </a:rPr>
              <a:t>2009</a:t>
            </a:r>
          </a:p>
        </p:txBody>
      </p:sp>
      <p:sp>
        <p:nvSpPr>
          <p:cNvPr id="8" name="TextBox 7"/>
          <p:cNvSpPr txBox="1"/>
          <p:nvPr/>
        </p:nvSpPr>
        <p:spPr>
          <a:xfrm>
            <a:off x="1344168" y="2651760"/>
            <a:ext cx="2468880" cy="685800"/>
          </a:xfrm>
          <a:prstGeom prst="rect">
            <a:avLst/>
          </a:prstGeom>
          <a:noFill/>
        </p:spPr>
        <p:txBody>
          <a:bodyPr wrap="square" lIns="0" rIns="0" tIns="0" bIns="0" anchor="t">
            <a:noAutofit/>
          </a:bodyPr>
          <a:lstStyle/>
          <a:p>
            <a:pPr algn="l">
              <a:lnSpc>
                <a:spcPct val="120000"/>
              </a:lnSpc>
            </a:pPr>
            <a:r>
              <a:rPr sz="1300" b="0" i="0">
                <a:solidFill>
                  <a:srgbClr val="708196"/>
                </a:solidFill>
                <a:latin typeface="Arial"/>
              </a:rPr>
              <a:t>Curriculum
Bengio et al.</a:t>
            </a:r>
          </a:p>
        </p:txBody>
      </p:sp>
      <p:sp>
        <p:nvSpPr>
          <p:cNvPr id="9" name="Oval 8"/>
          <p:cNvSpPr/>
          <p:nvPr/>
        </p:nvSpPr>
        <p:spPr>
          <a:xfrm>
            <a:off x="3995928" y="2322576"/>
            <a:ext cx="237744" cy="237744"/>
          </a:xfrm>
          <a:prstGeom prst="ellipse">
            <a:avLst/>
          </a:prstGeom>
          <a:solidFill>
            <a:srgbClr val="0E8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79976" y="2258568"/>
            <a:ext cx="2377440" cy="365760"/>
          </a:xfrm>
          <a:prstGeom prst="rect">
            <a:avLst/>
          </a:prstGeom>
          <a:noFill/>
        </p:spPr>
        <p:txBody>
          <a:bodyPr wrap="square" lIns="0" rIns="0" tIns="0" bIns="0" anchor="t">
            <a:noAutofit/>
          </a:bodyPr>
          <a:lstStyle/>
          <a:p>
            <a:pPr algn="l">
              <a:lnSpc>
                <a:spcPct val="100000"/>
              </a:lnSpc>
            </a:pPr>
            <a:r>
              <a:rPr sz="1700" b="1" i="0">
                <a:solidFill>
                  <a:srgbClr val="0E8074"/>
                </a:solidFill>
                <a:latin typeface="Arial"/>
              </a:rPr>
              <a:t>2015</a:t>
            </a:r>
          </a:p>
        </p:txBody>
      </p:sp>
      <p:sp>
        <p:nvSpPr>
          <p:cNvPr id="11" name="TextBox 10"/>
          <p:cNvSpPr txBox="1"/>
          <p:nvPr/>
        </p:nvSpPr>
        <p:spPr>
          <a:xfrm>
            <a:off x="4379976" y="2651760"/>
            <a:ext cx="2468880" cy="685800"/>
          </a:xfrm>
          <a:prstGeom prst="rect">
            <a:avLst/>
          </a:prstGeom>
          <a:noFill/>
        </p:spPr>
        <p:txBody>
          <a:bodyPr wrap="square" lIns="0" rIns="0" tIns="0" bIns="0" anchor="t">
            <a:noAutofit/>
          </a:bodyPr>
          <a:lstStyle/>
          <a:p>
            <a:pPr algn="l">
              <a:lnSpc>
                <a:spcPct val="120000"/>
              </a:lnSpc>
            </a:pPr>
            <a:r>
              <a:rPr sz="1300" b="0" i="0">
                <a:solidFill>
                  <a:srgbClr val="708196"/>
                </a:solidFill>
                <a:latin typeface="Arial"/>
              </a:rPr>
              <a:t>Distillation
Hinton et al.</a:t>
            </a:r>
          </a:p>
        </p:txBody>
      </p:sp>
      <p:sp>
        <p:nvSpPr>
          <p:cNvPr id="12" name="Oval 11"/>
          <p:cNvSpPr/>
          <p:nvPr/>
        </p:nvSpPr>
        <p:spPr>
          <a:xfrm>
            <a:off x="7031736" y="2322576"/>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15783" y="2258568"/>
            <a:ext cx="2377440" cy="365760"/>
          </a:xfrm>
          <a:prstGeom prst="rect">
            <a:avLst/>
          </a:prstGeom>
          <a:noFill/>
        </p:spPr>
        <p:txBody>
          <a:bodyPr wrap="square" lIns="0" rIns="0" tIns="0" bIns="0" anchor="t">
            <a:noAutofit/>
          </a:bodyPr>
          <a:lstStyle/>
          <a:p>
            <a:pPr algn="l">
              <a:lnSpc>
                <a:spcPct val="100000"/>
              </a:lnSpc>
            </a:pPr>
            <a:r>
              <a:rPr sz="1700" b="1" i="0">
                <a:solidFill>
                  <a:srgbClr val="C0392B"/>
                </a:solidFill>
                <a:latin typeface="Arial"/>
              </a:rPr>
              <a:t>2021</a:t>
            </a:r>
          </a:p>
        </p:txBody>
      </p:sp>
      <p:sp>
        <p:nvSpPr>
          <p:cNvPr id="14" name="TextBox 13"/>
          <p:cNvSpPr txBox="1"/>
          <p:nvPr/>
        </p:nvSpPr>
        <p:spPr>
          <a:xfrm>
            <a:off x="7415783" y="2651760"/>
            <a:ext cx="2468880" cy="685800"/>
          </a:xfrm>
          <a:prstGeom prst="rect">
            <a:avLst/>
          </a:prstGeom>
          <a:noFill/>
        </p:spPr>
        <p:txBody>
          <a:bodyPr wrap="square" lIns="0" rIns="0" tIns="0" bIns="0" anchor="t">
            <a:noAutofit/>
          </a:bodyPr>
          <a:lstStyle/>
          <a:p>
            <a:pPr algn="l">
              <a:lnSpc>
                <a:spcPct val="120000"/>
              </a:lnSpc>
            </a:pPr>
            <a:r>
              <a:rPr sz="1300" b="0" i="0">
                <a:solidFill>
                  <a:srgbClr val="708196"/>
                </a:solidFill>
                <a:latin typeface="Arial"/>
              </a:rPr>
              <a:t>LoRA
Hu et al.</a:t>
            </a:r>
          </a:p>
        </p:txBody>
      </p:sp>
      <p:sp>
        <p:nvSpPr>
          <p:cNvPr id="15" name="Oval 14"/>
          <p:cNvSpPr/>
          <p:nvPr/>
        </p:nvSpPr>
        <p:spPr>
          <a:xfrm>
            <a:off x="10067544" y="2322576"/>
            <a:ext cx="237744" cy="237744"/>
          </a:xfrm>
          <a:prstGeom prst="ellipse">
            <a:avLst/>
          </a:prstGeom>
          <a:solidFill>
            <a:srgbClr val="708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51592" y="2258568"/>
            <a:ext cx="2377440" cy="365760"/>
          </a:xfrm>
          <a:prstGeom prst="rect">
            <a:avLst/>
          </a:prstGeom>
          <a:noFill/>
        </p:spPr>
        <p:txBody>
          <a:bodyPr wrap="square" lIns="0" rIns="0" tIns="0" bIns="0" anchor="t">
            <a:noAutofit/>
          </a:bodyPr>
          <a:lstStyle/>
          <a:p>
            <a:pPr algn="l">
              <a:lnSpc>
                <a:spcPct val="100000"/>
              </a:lnSpc>
            </a:pPr>
            <a:r>
              <a:rPr sz="1700" b="1" i="0">
                <a:solidFill>
                  <a:srgbClr val="708196"/>
                </a:solidFill>
                <a:latin typeface="Arial"/>
              </a:rPr>
              <a:t>2024+</a:t>
            </a:r>
          </a:p>
        </p:txBody>
      </p:sp>
      <p:sp>
        <p:nvSpPr>
          <p:cNvPr id="17" name="TextBox 16"/>
          <p:cNvSpPr txBox="1"/>
          <p:nvPr/>
        </p:nvSpPr>
        <p:spPr>
          <a:xfrm>
            <a:off x="10451592" y="2651760"/>
            <a:ext cx="2468880" cy="685800"/>
          </a:xfrm>
          <a:prstGeom prst="rect">
            <a:avLst/>
          </a:prstGeom>
          <a:noFill/>
        </p:spPr>
        <p:txBody>
          <a:bodyPr wrap="square" lIns="0" rIns="0" tIns="0" bIns="0" anchor="t">
            <a:noAutofit/>
          </a:bodyPr>
          <a:lstStyle/>
          <a:p>
            <a:pPr algn="l">
              <a:lnSpc>
                <a:spcPct val="120000"/>
              </a:lnSpc>
            </a:pPr>
            <a:r>
              <a:rPr sz="1300" b="0" i="0">
                <a:solidFill>
                  <a:srgbClr val="708196"/>
                </a:solidFill>
                <a:latin typeface="Arial"/>
              </a:rPr>
              <a:t>today's efficient
AI stack</a:t>
            </a:r>
          </a:p>
        </p:txBody>
      </p:sp>
      <p:sp>
        <p:nvSpPr>
          <p:cNvPr id="18" name="Oval 17"/>
          <p:cNvSpPr/>
          <p:nvPr/>
        </p:nvSpPr>
        <p:spPr>
          <a:xfrm>
            <a:off x="777240" y="3625596"/>
            <a:ext cx="96012" cy="96012"/>
          </a:xfrm>
          <a:prstGeom prst="ellipse">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9848" y="3520440"/>
            <a:ext cx="10222992" cy="621792"/>
          </a:xfrm>
          <a:prstGeom prst="rect">
            <a:avLst/>
          </a:prstGeom>
          <a:noFill/>
        </p:spPr>
        <p:txBody>
          <a:bodyPr wrap="square" lIns="0" rIns="0" tIns="0" bIns="0" anchor="t">
            <a:noAutofit/>
          </a:bodyPr>
          <a:lstStyle/>
          <a:p>
            <a:pPr algn="l">
              <a:lnSpc>
                <a:spcPct val="118000"/>
              </a:lnSpc>
            </a:pPr>
            <a:r>
              <a:rPr sz="1650" b="0" i="0">
                <a:solidFill>
                  <a:srgbClr val="334155"/>
                </a:solidFill>
                <a:latin typeface="Arial"/>
              </a:rPr>
              <a:t>Recent tricks are still unstable. If a combination behaved strangely, I could not tell whether that was </a:t>
            </a:r>
            <a:r>
              <a:rPr sz="1650" b="1" i="0">
                <a:solidFill>
                  <a:srgbClr val="16202E"/>
                </a:solidFill>
                <a:latin typeface="Arial"/>
              </a:rPr>
              <a:t>the interaction or the technique</a:t>
            </a:r>
            <a:r>
              <a:rPr sz="1650" b="0" i="0">
                <a:solidFill>
                  <a:srgbClr val="334155"/>
                </a:solidFill>
                <a:latin typeface="Arial"/>
              </a:rPr>
              <a:t>.</a:t>
            </a:r>
          </a:p>
        </p:txBody>
      </p:sp>
      <p:sp>
        <p:nvSpPr>
          <p:cNvPr id="20" name="Oval 19"/>
          <p:cNvSpPr/>
          <p:nvPr/>
        </p:nvSpPr>
        <p:spPr>
          <a:xfrm>
            <a:off x="777240" y="4302252"/>
            <a:ext cx="96012" cy="96012"/>
          </a:xfrm>
          <a:prstGeom prst="ellipse">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4197096"/>
            <a:ext cx="10222992" cy="621792"/>
          </a:xfrm>
          <a:prstGeom prst="rect">
            <a:avLst/>
          </a:prstGeom>
          <a:noFill/>
        </p:spPr>
        <p:txBody>
          <a:bodyPr wrap="square" lIns="0" rIns="0" tIns="0" bIns="0" anchor="t">
            <a:noAutofit/>
          </a:bodyPr>
          <a:lstStyle/>
          <a:p>
            <a:pPr algn="l">
              <a:lnSpc>
                <a:spcPct val="118000"/>
              </a:lnSpc>
            </a:pPr>
            <a:r>
              <a:rPr sz="1650" b="0" i="0">
                <a:solidFill>
                  <a:srgbClr val="334155"/>
                </a:solidFill>
                <a:latin typeface="Arial"/>
              </a:rPr>
              <a:t>These three have well-characterised solo effects. So any surprise is a </a:t>
            </a:r>
            <a:r>
              <a:rPr sz="1650" b="1" i="0">
                <a:solidFill>
                  <a:srgbClr val="16202E"/>
                </a:solidFill>
                <a:latin typeface="Arial"/>
              </a:rPr>
              <a:t>finding</a:t>
            </a:r>
            <a:r>
              <a:rPr sz="1650" b="0" i="0">
                <a:solidFill>
                  <a:srgbClr val="334155"/>
                </a:solidFill>
                <a:latin typeface="Arial"/>
              </a:rPr>
              <a:t>, not a mystery.</a:t>
            </a:r>
          </a:p>
        </p:txBody>
      </p:sp>
      <p:sp>
        <p:nvSpPr>
          <p:cNvPr id="22" name="Oval 21"/>
          <p:cNvSpPr/>
          <p:nvPr/>
        </p:nvSpPr>
        <p:spPr>
          <a:xfrm>
            <a:off x="777240" y="4978908"/>
            <a:ext cx="96012" cy="96012"/>
          </a:xfrm>
          <a:prstGeom prst="ellipse">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9848" y="4873752"/>
            <a:ext cx="10222992" cy="621792"/>
          </a:xfrm>
          <a:prstGeom prst="rect">
            <a:avLst/>
          </a:prstGeom>
          <a:noFill/>
        </p:spPr>
        <p:txBody>
          <a:bodyPr wrap="square" lIns="0" rIns="0" tIns="0" bIns="0" anchor="t">
            <a:noAutofit/>
          </a:bodyPr>
          <a:lstStyle/>
          <a:p>
            <a:pPr algn="l">
              <a:lnSpc>
                <a:spcPct val="118000"/>
              </a:lnSpc>
            </a:pPr>
            <a:r>
              <a:rPr sz="1650" b="0" i="0">
                <a:solidFill>
                  <a:srgbClr val="334155"/>
                </a:solidFill>
                <a:latin typeface="Arial"/>
              </a:rPr>
              <a:t>They are the load-bearing beams under today's efficient AI — and practitioners under a budget still stack all three at once.</a:t>
            </a:r>
          </a:p>
        </p:txBody>
      </p:sp>
      <p:sp>
        <p:nvSpPr>
          <p:cNvPr id="24" name="Rectangle 23"/>
          <p:cNvSpPr/>
          <p:nvPr/>
        </p:nvSpPr>
        <p:spPr>
          <a:xfrm>
            <a:off x="777240" y="5532120"/>
            <a:ext cx="10515600" cy="56692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532120"/>
            <a:ext cx="10058400" cy="566928"/>
          </a:xfrm>
          <a:prstGeom prst="rect">
            <a:avLst/>
          </a:prstGeom>
          <a:noFill/>
        </p:spPr>
        <p:txBody>
          <a:bodyPr wrap="square" lIns="0" rIns="0" tIns="0" bIns="0" anchor="ctr">
            <a:noAutofit/>
          </a:bodyPr>
          <a:lstStyle/>
          <a:p>
            <a:pPr algn="l">
              <a:lnSpc>
                <a:spcPct val="100000"/>
              </a:lnSpc>
            </a:pPr>
            <a:r>
              <a:rPr sz="1550" b="1" i="0">
                <a:solidFill>
                  <a:srgbClr val="16202E"/>
                </a:solidFill>
                <a:latin typeface="Arial"/>
              </a:rPr>
              <a:t>The contribution is the design. The techniques are just the test subjects.</a:t>
            </a:r>
          </a:p>
        </p:txBody>
      </p:sp>
      <p:sp>
        <p:nvSpPr>
          <p:cNvPr id="26" name="TextBox 25"/>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Motivation</a:t>
            </a:r>
          </a:p>
        </p:txBody>
      </p:sp>
      <p:sp>
        <p:nvSpPr>
          <p:cNvPr id="27" name="TextBox 26"/>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THE CAST</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800" b="1" i="0">
                <a:solidFill>
                  <a:srgbClr val="16202E"/>
                </a:solidFill>
                <a:latin typeface="Arial"/>
              </a:rPr>
              <a:t>Three different ways to spend less</a:t>
            </a:r>
          </a:p>
        </p:txBody>
      </p:sp>
      <p:sp>
        <p:nvSpPr>
          <p:cNvPr id="5" name="Rectangle 4"/>
          <p:cNvSpPr/>
          <p:nvPr/>
        </p:nvSpPr>
        <p:spPr>
          <a:xfrm>
            <a:off x="777240" y="2084831"/>
            <a:ext cx="3310128" cy="3703320"/>
          </a:xfrm>
          <a:prstGeom prst="rect">
            <a:avLst/>
          </a:prstGeom>
          <a:solidFill>
            <a:srgbClr val="FFFFFF"/>
          </a:solidFill>
          <a:ln w="1587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084831"/>
            <a:ext cx="3310128" cy="77724"/>
          </a:xfrm>
          <a:prstGeom prst="rect">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88136" y="2468879"/>
            <a:ext cx="2688336" cy="384048"/>
          </a:xfrm>
          <a:prstGeom prst="rect">
            <a:avLst/>
          </a:prstGeom>
          <a:noFill/>
        </p:spPr>
        <p:txBody>
          <a:bodyPr wrap="square" lIns="0" rIns="0" tIns="0" bIns="0" anchor="t">
            <a:noAutofit/>
          </a:bodyPr>
          <a:lstStyle/>
          <a:p>
            <a:pPr algn="l">
              <a:lnSpc>
                <a:spcPct val="100000"/>
              </a:lnSpc>
            </a:pPr>
            <a:r>
              <a:rPr sz="2100" b="1" i="0">
                <a:solidFill>
                  <a:srgbClr val="E08A2E"/>
                </a:solidFill>
                <a:latin typeface="Arial"/>
              </a:rPr>
              <a:t>C  ·  Curriculum</a:t>
            </a:r>
          </a:p>
        </p:txBody>
      </p:sp>
      <p:sp>
        <p:nvSpPr>
          <p:cNvPr id="8" name="TextBox 7"/>
          <p:cNvSpPr txBox="1"/>
          <p:nvPr/>
        </p:nvSpPr>
        <p:spPr>
          <a:xfrm>
            <a:off x="1088136" y="2953511"/>
            <a:ext cx="2688336" cy="365760"/>
          </a:xfrm>
          <a:prstGeom prst="rect">
            <a:avLst/>
          </a:prstGeom>
          <a:noFill/>
        </p:spPr>
        <p:txBody>
          <a:bodyPr wrap="square" lIns="0" rIns="0" tIns="0" bIns="0" anchor="t">
            <a:noAutofit/>
          </a:bodyPr>
          <a:lstStyle/>
          <a:p>
            <a:pPr algn="l">
              <a:lnSpc>
                <a:spcPct val="100000"/>
              </a:lnSpc>
            </a:pPr>
            <a:r>
              <a:rPr sz="1300" b="1" i="0">
                <a:solidFill>
                  <a:srgbClr val="708196"/>
                </a:solidFill>
                <a:latin typeface="Arial"/>
              </a:rPr>
              <a:t>Teach easy before hard</a:t>
            </a:r>
          </a:p>
        </p:txBody>
      </p:sp>
      <p:sp>
        <p:nvSpPr>
          <p:cNvPr id="9" name="TextBox 8"/>
          <p:cNvSpPr txBox="1"/>
          <p:nvPr/>
        </p:nvSpPr>
        <p:spPr>
          <a:xfrm>
            <a:off x="1088136" y="3383279"/>
            <a:ext cx="2688336" cy="2057400"/>
          </a:xfrm>
          <a:prstGeom prst="rect">
            <a:avLst/>
          </a:prstGeom>
          <a:noFill/>
        </p:spPr>
        <p:txBody>
          <a:bodyPr wrap="square" lIns="0" rIns="0" tIns="0" bIns="0" anchor="t">
            <a:noAutofit/>
          </a:bodyPr>
          <a:lstStyle/>
          <a:p>
            <a:pPr algn="l">
              <a:lnSpc>
                <a:spcPct val="122000"/>
              </a:lnSpc>
            </a:pPr>
            <a:r>
              <a:rPr sz="1450" b="0" i="0">
                <a:solidFill>
                  <a:srgbClr val="334155"/>
                </a:solidFill>
                <a:latin typeface="Arial"/>
              </a:rPr>
              <a:t>You don't open a maths course with calculus.
Sort the data by difficulty, start the model on 15% of it, open the pool as it copes.
Price: free. Just reorder.</a:t>
            </a:r>
          </a:p>
        </p:txBody>
      </p:sp>
      <p:sp>
        <p:nvSpPr>
          <p:cNvPr id="10" name="Rectangle 9"/>
          <p:cNvSpPr/>
          <p:nvPr/>
        </p:nvSpPr>
        <p:spPr>
          <a:xfrm>
            <a:off x="4361688" y="2084831"/>
            <a:ext cx="3310128" cy="3703320"/>
          </a:xfrm>
          <a:prstGeom prst="rect">
            <a:avLst/>
          </a:prstGeom>
          <a:solidFill>
            <a:srgbClr val="FFFFFF"/>
          </a:solidFill>
          <a:ln w="1587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1688" y="2084831"/>
            <a:ext cx="3310128" cy="7772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72583" y="2468879"/>
            <a:ext cx="2688336" cy="384048"/>
          </a:xfrm>
          <a:prstGeom prst="rect">
            <a:avLst/>
          </a:prstGeom>
          <a:noFill/>
        </p:spPr>
        <p:txBody>
          <a:bodyPr wrap="square" lIns="0" rIns="0" tIns="0" bIns="0" anchor="t">
            <a:noAutofit/>
          </a:bodyPr>
          <a:lstStyle/>
          <a:p>
            <a:pPr algn="l">
              <a:lnSpc>
                <a:spcPct val="100000"/>
              </a:lnSpc>
            </a:pPr>
            <a:r>
              <a:rPr sz="2100" b="1" i="0">
                <a:solidFill>
                  <a:srgbClr val="C0392B"/>
                </a:solidFill>
                <a:latin typeface="Arial"/>
              </a:rPr>
              <a:t>L  ·  LoRA</a:t>
            </a:r>
          </a:p>
        </p:txBody>
      </p:sp>
      <p:sp>
        <p:nvSpPr>
          <p:cNvPr id="13" name="TextBox 12"/>
          <p:cNvSpPr txBox="1"/>
          <p:nvPr/>
        </p:nvSpPr>
        <p:spPr>
          <a:xfrm>
            <a:off x="4672583" y="2953511"/>
            <a:ext cx="2688336" cy="365760"/>
          </a:xfrm>
          <a:prstGeom prst="rect">
            <a:avLst/>
          </a:prstGeom>
          <a:noFill/>
        </p:spPr>
        <p:txBody>
          <a:bodyPr wrap="square" lIns="0" rIns="0" tIns="0" bIns="0" anchor="t">
            <a:noAutofit/>
          </a:bodyPr>
          <a:lstStyle/>
          <a:p>
            <a:pPr algn="l">
              <a:lnSpc>
                <a:spcPct val="100000"/>
              </a:lnSpc>
            </a:pPr>
            <a:r>
              <a:rPr sz="1300" b="1" i="0">
                <a:solidFill>
                  <a:srgbClr val="708196"/>
                </a:solidFill>
                <a:latin typeface="Arial"/>
              </a:rPr>
              <a:t>Sticky notes, not a rewrite</a:t>
            </a:r>
          </a:p>
        </p:txBody>
      </p:sp>
      <p:sp>
        <p:nvSpPr>
          <p:cNvPr id="14" name="TextBox 13"/>
          <p:cNvSpPr txBox="1"/>
          <p:nvPr/>
        </p:nvSpPr>
        <p:spPr>
          <a:xfrm>
            <a:off x="4672583" y="3383279"/>
            <a:ext cx="2688336" cy="2057400"/>
          </a:xfrm>
          <a:prstGeom prst="rect">
            <a:avLst/>
          </a:prstGeom>
          <a:noFill/>
        </p:spPr>
        <p:txBody>
          <a:bodyPr wrap="square" lIns="0" rIns="0" tIns="0" bIns="0" anchor="t">
            <a:noAutofit/>
          </a:bodyPr>
          <a:lstStyle/>
          <a:p>
            <a:pPr algn="l">
              <a:lnSpc>
                <a:spcPct val="122000"/>
              </a:lnSpc>
            </a:pPr>
            <a:r>
              <a:rPr sz="1450" b="0" i="0">
                <a:solidFill>
                  <a:srgbClr val="334155"/>
                </a:solidFill>
                <a:latin typeface="Arial"/>
              </a:rPr>
              <a:t>Freeze the book. Write small rank-4 notes in the margin.
Only the notes get trained — 4× fewer weights to update.
Price: memory saved. Capacity spent.</a:t>
            </a:r>
          </a:p>
        </p:txBody>
      </p:sp>
      <p:sp>
        <p:nvSpPr>
          <p:cNvPr id="15" name="Rectangle 14"/>
          <p:cNvSpPr/>
          <p:nvPr/>
        </p:nvSpPr>
        <p:spPr>
          <a:xfrm>
            <a:off x="7946136" y="2084831"/>
            <a:ext cx="3310128" cy="3703320"/>
          </a:xfrm>
          <a:prstGeom prst="rect">
            <a:avLst/>
          </a:prstGeom>
          <a:solidFill>
            <a:srgbClr val="FFFFFF"/>
          </a:solidFill>
          <a:ln w="1587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46136" y="2084831"/>
            <a:ext cx="3310128" cy="77724"/>
          </a:xfrm>
          <a:prstGeom prst="rect">
            <a:avLst/>
          </a:prstGeom>
          <a:solidFill>
            <a:srgbClr val="0E8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1" y="2468879"/>
            <a:ext cx="2688336" cy="384048"/>
          </a:xfrm>
          <a:prstGeom prst="rect">
            <a:avLst/>
          </a:prstGeom>
          <a:noFill/>
        </p:spPr>
        <p:txBody>
          <a:bodyPr wrap="square" lIns="0" rIns="0" tIns="0" bIns="0" anchor="t">
            <a:noAutofit/>
          </a:bodyPr>
          <a:lstStyle/>
          <a:p>
            <a:pPr algn="l">
              <a:lnSpc>
                <a:spcPct val="100000"/>
              </a:lnSpc>
            </a:pPr>
            <a:r>
              <a:rPr sz="2100" b="1" i="0">
                <a:solidFill>
                  <a:srgbClr val="0E8074"/>
                </a:solidFill>
                <a:latin typeface="Arial"/>
              </a:rPr>
              <a:t>D  ·  Distillation</a:t>
            </a:r>
          </a:p>
        </p:txBody>
      </p:sp>
      <p:sp>
        <p:nvSpPr>
          <p:cNvPr id="18" name="TextBox 17"/>
          <p:cNvSpPr txBox="1"/>
          <p:nvPr/>
        </p:nvSpPr>
        <p:spPr>
          <a:xfrm>
            <a:off x="8257031" y="2953511"/>
            <a:ext cx="2688336" cy="365760"/>
          </a:xfrm>
          <a:prstGeom prst="rect">
            <a:avLst/>
          </a:prstGeom>
          <a:noFill/>
        </p:spPr>
        <p:txBody>
          <a:bodyPr wrap="square" lIns="0" rIns="0" tIns="0" bIns="0" anchor="t">
            <a:noAutofit/>
          </a:bodyPr>
          <a:lstStyle/>
          <a:p>
            <a:pPr algn="l">
              <a:lnSpc>
                <a:spcPct val="100000"/>
              </a:lnSpc>
            </a:pPr>
            <a:r>
              <a:rPr sz="1300" b="1" i="0">
                <a:solidFill>
                  <a:srgbClr val="708196"/>
                </a:solidFill>
                <a:latin typeface="Arial"/>
              </a:rPr>
              <a:t>Learn from a senior</a:t>
            </a:r>
          </a:p>
        </p:txBody>
      </p:sp>
      <p:sp>
        <p:nvSpPr>
          <p:cNvPr id="19" name="TextBox 18"/>
          <p:cNvSpPr txBox="1"/>
          <p:nvPr/>
        </p:nvSpPr>
        <p:spPr>
          <a:xfrm>
            <a:off x="8257031" y="3383279"/>
            <a:ext cx="2688336" cy="2057400"/>
          </a:xfrm>
          <a:prstGeom prst="rect">
            <a:avLst/>
          </a:prstGeom>
          <a:noFill/>
        </p:spPr>
        <p:txBody>
          <a:bodyPr wrap="square" lIns="0" rIns="0" tIns="0" bIns="0" anchor="t">
            <a:noAutofit/>
          </a:bodyPr>
          <a:lstStyle/>
          <a:p>
            <a:pPr algn="l">
              <a:lnSpc>
                <a:spcPct val="122000"/>
              </a:lnSpc>
            </a:pPr>
            <a:r>
              <a:rPr sz="1450" b="0" i="0">
                <a:solidFill>
                  <a:srgbClr val="334155"/>
                </a:solidFill>
                <a:latin typeface="Arial"/>
              </a:rPr>
              <a:t>A bigger teacher already made the mistakes. The student copies its soft answers, not just the labels.
Price: you have to pay for the teacher too.</a:t>
            </a:r>
          </a:p>
        </p:txBody>
      </p:sp>
      <p:sp>
        <p:nvSpPr>
          <p:cNvPr id="20" name="TextBox 19"/>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Background</a:t>
            </a:r>
          </a:p>
        </p:txBody>
      </p:sp>
      <p:sp>
        <p:nvSpPr>
          <p:cNvPr id="21" name="TextBox 20"/>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F0B429"/>
                </a:solidFill>
                <a:latin typeface="Arial"/>
              </a:rPr>
              <a:t>THE UNTESTED ASSUMPTION</a:t>
            </a:r>
          </a:p>
        </p:txBody>
      </p:sp>
      <p:sp>
        <p:nvSpPr>
          <p:cNvPr id="4" name="TextBox 3"/>
          <p:cNvSpPr txBox="1"/>
          <p:nvPr/>
        </p:nvSpPr>
        <p:spPr>
          <a:xfrm>
            <a:off x="777240" y="1417320"/>
            <a:ext cx="6675120" cy="2194560"/>
          </a:xfrm>
          <a:prstGeom prst="rect">
            <a:avLst/>
          </a:prstGeom>
          <a:noFill/>
        </p:spPr>
        <p:txBody>
          <a:bodyPr wrap="square" lIns="0" rIns="0" tIns="0" bIns="0" anchor="t">
            <a:noAutofit/>
          </a:bodyPr>
          <a:lstStyle/>
          <a:p>
            <a:pPr algn="l">
              <a:lnSpc>
                <a:spcPct val="120000"/>
              </a:lnSpc>
              <a:spcAft>
                <a:spcPts val="1400"/>
              </a:spcAft>
            </a:pPr>
            <a:r>
              <a:rPr sz="2700" b="1" i="0">
                <a:solidFill>
                  <a:srgbClr val="B9C6D8"/>
                </a:solidFill>
                <a:latin typeface="Arial"/>
              </a:rPr>
              <a:t>You reach the checkout holding a coupon, a loyalty card, and a cashback offer.</a:t>
            </a:r>
          </a:p>
          <a:p>
            <a:pPr algn="l">
              <a:lnSpc>
                <a:spcPct val="120000"/>
              </a:lnSpc>
              <a:spcAft>
                <a:spcPts val="1400"/>
              </a:spcAft>
            </a:pPr>
            <a:r>
              <a:rPr sz="2700" b="1" i="0">
                <a:solidFill>
                  <a:srgbClr val="FFFFFF"/>
                </a:solidFill>
                <a:latin typeface="Arial"/>
              </a:rPr>
              <a:t>Everyone assumes 10% + 15% + 5% = 30% off.</a:t>
            </a:r>
          </a:p>
        </p:txBody>
      </p:sp>
      <p:sp>
        <p:nvSpPr>
          <p:cNvPr id="5" name="Rectangle 4"/>
          <p:cNvSpPr/>
          <p:nvPr/>
        </p:nvSpPr>
        <p:spPr>
          <a:xfrm>
            <a:off x="777240" y="4407408"/>
            <a:ext cx="1280160" cy="50292"/>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4773168"/>
            <a:ext cx="6766560" cy="1737360"/>
          </a:xfrm>
          <a:prstGeom prst="rect">
            <a:avLst/>
          </a:prstGeom>
          <a:noFill/>
        </p:spPr>
        <p:txBody>
          <a:bodyPr wrap="square" lIns="0" rIns="0" tIns="0" bIns="0" anchor="t">
            <a:noAutofit/>
          </a:bodyPr>
          <a:lstStyle/>
          <a:p>
            <a:pPr algn="l">
              <a:lnSpc>
                <a:spcPct val="108000"/>
              </a:lnSpc>
            </a:pPr>
            <a:r>
              <a:rPr sz="4200" b="1" i="0">
                <a:solidFill>
                  <a:srgbClr val="F0B429"/>
                </a:solidFill>
                <a:latin typeface="Arial"/>
              </a:rPr>
              <a:t>Nobody ran
the receipt.</a:t>
            </a:r>
          </a:p>
        </p:txBody>
      </p:sp>
      <p:sp>
        <p:nvSpPr>
          <p:cNvPr id="7" name="Rectangle 6"/>
          <p:cNvSpPr/>
          <p:nvPr/>
        </p:nvSpPr>
        <p:spPr>
          <a:xfrm>
            <a:off x="7863840" y="1417320"/>
            <a:ext cx="3547872" cy="4617720"/>
          </a:xfrm>
          <a:prstGeom prst="rect">
            <a:avLst/>
          </a:prstGeom>
          <a:solidFill>
            <a:srgbClr val="1B2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79" y="1783080"/>
            <a:ext cx="2926080" cy="365760"/>
          </a:xfrm>
          <a:prstGeom prst="rect">
            <a:avLst/>
          </a:prstGeom>
          <a:noFill/>
        </p:spPr>
        <p:txBody>
          <a:bodyPr wrap="square" lIns="0" rIns="0" tIns="0" bIns="0" anchor="t">
            <a:noAutofit/>
          </a:bodyPr>
          <a:lstStyle/>
          <a:p>
            <a:pPr algn="l">
              <a:lnSpc>
                <a:spcPct val="100000"/>
              </a:lnSpc>
            </a:pPr>
            <a:r>
              <a:rPr sz="1200" b="1" i="0">
                <a:solidFill>
                  <a:srgbClr val="F0B429"/>
                </a:solidFill>
                <a:latin typeface="Arial"/>
              </a:rPr>
              <a:t>WHAT THE LITERATURE DOES</a:t>
            </a:r>
          </a:p>
        </p:txBody>
      </p:sp>
      <p:sp>
        <p:nvSpPr>
          <p:cNvPr id="9" name="Oval 8"/>
          <p:cNvSpPr/>
          <p:nvPr/>
        </p:nvSpPr>
        <p:spPr>
          <a:xfrm>
            <a:off x="8183879" y="2436876"/>
            <a:ext cx="77724" cy="77724"/>
          </a:xfrm>
          <a:prstGeom prst="ellipse">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76488" y="2331720"/>
            <a:ext cx="2633472" cy="548640"/>
          </a:xfrm>
          <a:prstGeom prst="rect">
            <a:avLst/>
          </a:prstGeom>
          <a:noFill/>
        </p:spPr>
        <p:txBody>
          <a:bodyPr wrap="square" lIns="0" rIns="0" tIns="0" bIns="0" anchor="t">
            <a:noAutofit/>
          </a:bodyPr>
          <a:lstStyle/>
          <a:p>
            <a:pPr algn="l">
              <a:lnSpc>
                <a:spcPct val="118000"/>
              </a:lnSpc>
            </a:pPr>
            <a:r>
              <a:rPr sz="1350" b="0" i="0">
                <a:solidFill>
                  <a:srgbClr val="B9C6D8"/>
                </a:solidFill>
                <a:latin typeface="Arial"/>
              </a:rPr>
              <a:t>CLPD (2026): curriculum + distillation</a:t>
            </a:r>
          </a:p>
        </p:txBody>
      </p:sp>
      <p:sp>
        <p:nvSpPr>
          <p:cNvPr id="11" name="Oval 10"/>
          <p:cNvSpPr/>
          <p:nvPr/>
        </p:nvSpPr>
        <p:spPr>
          <a:xfrm>
            <a:off x="8183879" y="3003804"/>
            <a:ext cx="77724" cy="77724"/>
          </a:xfrm>
          <a:prstGeom prst="ellipse">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76488" y="2898648"/>
            <a:ext cx="2633472" cy="548640"/>
          </a:xfrm>
          <a:prstGeom prst="rect">
            <a:avLst/>
          </a:prstGeom>
          <a:noFill/>
        </p:spPr>
        <p:txBody>
          <a:bodyPr wrap="square" lIns="0" rIns="0" tIns="0" bIns="0" anchor="t">
            <a:noAutofit/>
          </a:bodyPr>
          <a:lstStyle/>
          <a:p>
            <a:pPr algn="l">
              <a:lnSpc>
                <a:spcPct val="118000"/>
              </a:lnSpc>
            </a:pPr>
            <a:r>
              <a:rPr sz="1350" b="0" i="0">
                <a:solidFill>
                  <a:srgbClr val="B9C6D8"/>
                </a:solidFill>
                <a:latin typeface="Arial"/>
              </a:rPr>
              <a:t>POCL (2025): curriculum + distillation</a:t>
            </a:r>
          </a:p>
        </p:txBody>
      </p:sp>
      <p:sp>
        <p:nvSpPr>
          <p:cNvPr id="13" name="Oval 12"/>
          <p:cNvSpPr/>
          <p:nvPr/>
        </p:nvSpPr>
        <p:spPr>
          <a:xfrm>
            <a:off x="8183879" y="3570732"/>
            <a:ext cx="77724" cy="77724"/>
          </a:xfrm>
          <a:prstGeom prst="ellipse">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76488" y="3465576"/>
            <a:ext cx="2633472" cy="548640"/>
          </a:xfrm>
          <a:prstGeom prst="rect">
            <a:avLst/>
          </a:prstGeom>
          <a:noFill/>
        </p:spPr>
        <p:txBody>
          <a:bodyPr wrap="square" lIns="0" rIns="0" tIns="0" bIns="0" anchor="t">
            <a:noAutofit/>
          </a:bodyPr>
          <a:lstStyle/>
          <a:p>
            <a:pPr algn="l">
              <a:lnSpc>
                <a:spcPct val="118000"/>
              </a:lnSpc>
            </a:pPr>
            <a:r>
              <a:rPr sz="1350" b="0" i="0">
                <a:solidFill>
                  <a:srgbClr val="B9C6D8"/>
                </a:solidFill>
                <a:latin typeface="Arial"/>
              </a:rPr>
              <a:t>TSCL (2026): sequenced KD objectives</a:t>
            </a:r>
          </a:p>
        </p:txBody>
      </p:sp>
      <p:sp>
        <p:nvSpPr>
          <p:cNvPr id="15" name="Rectangle 14"/>
          <p:cNvSpPr/>
          <p:nvPr/>
        </p:nvSpPr>
        <p:spPr>
          <a:xfrm>
            <a:off x="8183879" y="4041648"/>
            <a:ext cx="2926080" cy="18288"/>
          </a:xfrm>
          <a:prstGeom prst="rect">
            <a:avLst/>
          </a:prstGeom>
          <a:solidFill>
            <a:srgbClr val="3B4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83879" y="4279392"/>
            <a:ext cx="2926080" cy="1554480"/>
          </a:xfrm>
          <a:prstGeom prst="rect">
            <a:avLst/>
          </a:prstGeom>
          <a:noFill/>
        </p:spPr>
        <p:txBody>
          <a:bodyPr wrap="square" lIns="0" rIns="0" tIns="0" bIns="0" anchor="t">
            <a:noAutofit/>
          </a:bodyPr>
          <a:lstStyle/>
          <a:p>
            <a:pPr algn="l">
              <a:lnSpc>
                <a:spcPct val="125000"/>
              </a:lnSpc>
            </a:pPr>
            <a:r>
              <a:rPr sz="1350" b="0" i="0">
                <a:solidFill>
                  <a:srgbClr val="8CA0BA"/>
                </a:solidFill>
                <a:latin typeface="Arial"/>
              </a:rPr>
              <a:t>Every one of them compares the combination to </a:t>
            </a:r>
            <a:r>
              <a:rPr sz="1350" b="1" i="0">
                <a:solidFill>
                  <a:srgbClr val="FFFFFF"/>
                </a:solidFill>
                <a:latin typeface="Arial"/>
              </a:rPr>
              <a:t>nothing</a:t>
            </a:r>
            <a:r>
              <a:rPr sz="1350" b="0" i="0">
                <a:solidFill>
                  <a:srgbClr val="8CA0BA"/>
                </a:solidFill>
                <a:latin typeface="Arial"/>
              </a:rPr>
              <a:t>.
That answers “better than nothing?” — not “better than its parts?”</a:t>
            </a:r>
          </a:p>
        </p:txBody>
      </p:sp>
      <p:sp>
        <p:nvSpPr>
          <p:cNvPr id="17" name="TextBox 16"/>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53627A"/>
                </a:solidFill>
                <a:latin typeface="Arial"/>
              </a:rPr>
              <a:t>The gap</a:t>
            </a:r>
          </a:p>
        </p:txBody>
      </p:sp>
      <p:sp>
        <p:nvSpPr>
          <p:cNvPr id="18" name="TextBox 17"/>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53627A"/>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THE IDEA IN ONE LINE</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800" b="1" i="0">
                <a:solidFill>
                  <a:srgbClr val="16202E"/>
                </a:solidFill>
                <a:latin typeface="Arial"/>
              </a:rPr>
              <a:t>Composition is not combination</a:t>
            </a:r>
          </a:p>
        </p:txBody>
      </p:sp>
      <p:sp>
        <p:nvSpPr>
          <p:cNvPr id="5" name="Rectangle 4"/>
          <p:cNvSpPr/>
          <p:nvPr/>
        </p:nvSpPr>
        <p:spPr>
          <a:xfrm>
            <a:off x="777240" y="1874519"/>
            <a:ext cx="10515600" cy="1170432"/>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874519"/>
            <a:ext cx="10515600" cy="1170432"/>
          </a:xfrm>
          <a:prstGeom prst="rect">
            <a:avLst/>
          </a:prstGeom>
          <a:noFill/>
        </p:spPr>
        <p:txBody>
          <a:bodyPr wrap="square" lIns="0" rIns="0" tIns="0" bIns="0" anchor="ctr">
            <a:noAutofit/>
          </a:bodyPr>
          <a:lstStyle/>
          <a:p>
            <a:pPr algn="ctr">
              <a:lnSpc>
                <a:spcPct val="100000"/>
              </a:lnSpc>
            </a:pPr>
            <a:r>
              <a:rPr sz="3200" b="1" i="0">
                <a:solidFill>
                  <a:srgbClr val="FFFFFF"/>
                </a:solidFill>
                <a:latin typeface="Courier New"/>
              </a:rPr>
              <a:t>f(g(h(x + y + z)))</a:t>
            </a:r>
            <a:r>
              <a:rPr sz="3200" b="1" i="0">
                <a:solidFill>
                  <a:srgbClr val="F0B429"/>
                </a:solidFill>
                <a:latin typeface="Courier New"/>
              </a:rPr>
              <a:t>   ≠   </a:t>
            </a:r>
            <a:r>
              <a:rPr sz="3200" b="1" i="0">
                <a:solidFill>
                  <a:srgbClr val="FFFFFF"/>
                </a:solidFill>
                <a:latin typeface="Courier New"/>
              </a:rPr>
              <a:t>f(x) + g(y) + h(z)</a:t>
            </a:r>
          </a:p>
        </p:txBody>
      </p:sp>
      <p:sp>
        <p:nvSpPr>
          <p:cNvPr id="7" name="Rectangle 6"/>
          <p:cNvSpPr/>
          <p:nvPr/>
        </p:nvSpPr>
        <p:spPr>
          <a:xfrm>
            <a:off x="777240" y="3310128"/>
            <a:ext cx="5074920" cy="148132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3520440"/>
            <a:ext cx="4526280" cy="1097280"/>
          </a:xfrm>
          <a:prstGeom prst="rect">
            <a:avLst/>
          </a:prstGeom>
          <a:noFill/>
        </p:spPr>
        <p:txBody>
          <a:bodyPr wrap="square" lIns="0" rIns="0" tIns="0" bIns="0" anchor="t">
            <a:noAutofit/>
          </a:bodyPr>
          <a:lstStyle/>
          <a:p>
            <a:pPr algn="l">
              <a:lnSpc>
                <a:spcPct val="125000"/>
              </a:lnSpc>
              <a:spcAft>
                <a:spcPts val="700"/>
              </a:spcAft>
            </a:pPr>
            <a:r>
              <a:rPr sz="1300" b="1" i="0">
                <a:solidFill>
                  <a:srgbClr val="0E8074"/>
                </a:solidFill>
                <a:latin typeface="Arial"/>
              </a:rPr>
              <a:t>COMBINATION</a:t>
            </a:r>
          </a:p>
          <a:p>
            <a:pPr algn="l">
              <a:lnSpc>
                <a:spcPct val="125000"/>
              </a:lnSpc>
              <a:spcAft>
                <a:spcPts val="700"/>
              </a:spcAft>
            </a:pPr>
            <a:r>
              <a:rPr sz="1500" b="0" i="0">
                <a:solidFill>
                  <a:srgbClr val="334155"/>
                </a:solidFill>
                <a:latin typeface="Arial"/>
              </a:rPr>
              <a:t>Effects sit side by side. You can add them and the arithmetic is honest.</a:t>
            </a:r>
          </a:p>
        </p:txBody>
      </p:sp>
      <p:sp>
        <p:nvSpPr>
          <p:cNvPr id="9" name="Rectangle 8"/>
          <p:cNvSpPr/>
          <p:nvPr/>
        </p:nvSpPr>
        <p:spPr>
          <a:xfrm>
            <a:off x="6217920" y="3310128"/>
            <a:ext cx="5074920" cy="1481328"/>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3520440"/>
            <a:ext cx="4526280" cy="1097280"/>
          </a:xfrm>
          <a:prstGeom prst="rect">
            <a:avLst/>
          </a:prstGeom>
          <a:noFill/>
        </p:spPr>
        <p:txBody>
          <a:bodyPr wrap="square" lIns="0" rIns="0" tIns="0" bIns="0" anchor="t">
            <a:noAutofit/>
          </a:bodyPr>
          <a:lstStyle/>
          <a:p>
            <a:pPr algn="l">
              <a:lnSpc>
                <a:spcPct val="125000"/>
              </a:lnSpc>
              <a:spcAft>
                <a:spcPts val="700"/>
              </a:spcAft>
            </a:pPr>
            <a:r>
              <a:rPr sz="1300" b="1" i="0">
                <a:solidFill>
                  <a:srgbClr val="C0392B"/>
                </a:solidFill>
                <a:latin typeface="Arial"/>
              </a:rPr>
              <a:t>COMPOSITION</a:t>
            </a:r>
          </a:p>
          <a:p>
            <a:pPr algn="l">
              <a:lnSpc>
                <a:spcPct val="125000"/>
              </a:lnSpc>
              <a:spcAft>
                <a:spcPts val="700"/>
              </a:spcAft>
            </a:pPr>
            <a:r>
              <a:rPr sz="1500" b="0" i="0">
                <a:solidFill>
                  <a:srgbClr val="334155"/>
                </a:solidFill>
                <a:latin typeface="Arial"/>
              </a:rPr>
              <a:t>Each technique changes the input of the next. The sum is a guess.</a:t>
            </a:r>
          </a:p>
        </p:txBody>
      </p:sp>
      <p:sp>
        <p:nvSpPr>
          <p:cNvPr id="11" name="Oval 10"/>
          <p:cNvSpPr/>
          <p:nvPr/>
        </p:nvSpPr>
        <p:spPr>
          <a:xfrm>
            <a:off x="777240" y="5116068"/>
            <a:ext cx="96012" cy="96012"/>
          </a:xfrm>
          <a:prstGeom prst="ellipse">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5010912"/>
            <a:ext cx="10222992" cy="621792"/>
          </a:xfrm>
          <a:prstGeom prst="rect">
            <a:avLst/>
          </a:prstGeom>
          <a:noFill/>
        </p:spPr>
        <p:txBody>
          <a:bodyPr wrap="square" lIns="0" rIns="0" tIns="0" bIns="0" anchor="t">
            <a:noAutofit/>
          </a:bodyPr>
          <a:lstStyle/>
          <a:p>
            <a:pPr algn="l">
              <a:lnSpc>
                <a:spcPct val="118000"/>
              </a:lnSpc>
            </a:pPr>
            <a:r>
              <a:rPr sz="1550" b="0" i="0">
                <a:solidFill>
                  <a:srgbClr val="334155"/>
                </a:solidFill>
                <a:latin typeface="Arial"/>
              </a:rPr>
              <a:t>The curriculum changes </a:t>
            </a:r>
            <a:r>
              <a:rPr sz="1550" b="1" i="0">
                <a:solidFill>
                  <a:srgbClr val="16202E"/>
                </a:solidFill>
                <a:latin typeface="Arial"/>
              </a:rPr>
              <a:t>what LoRA sees</a:t>
            </a:r>
            <a:r>
              <a:rPr sz="1550" b="0" i="0">
                <a:solidFill>
                  <a:srgbClr val="334155"/>
                </a:solidFill>
                <a:latin typeface="Arial"/>
              </a:rPr>
              <a:t>. LoRA changes </a:t>
            </a:r>
            <a:r>
              <a:rPr sz="1550" b="1" i="0">
                <a:solidFill>
                  <a:srgbClr val="16202E"/>
                </a:solidFill>
                <a:latin typeface="Arial"/>
              </a:rPr>
              <a:t>how much the student can absorb</a:t>
            </a:r>
            <a:r>
              <a:rPr sz="1550" b="0" i="0">
                <a:solidFill>
                  <a:srgbClr val="334155"/>
                </a:solidFill>
                <a:latin typeface="Arial"/>
              </a:rPr>
              <a:t> from the teacher.</a:t>
            </a:r>
          </a:p>
        </p:txBody>
      </p:sp>
      <p:sp>
        <p:nvSpPr>
          <p:cNvPr id="13" name="Oval 12"/>
          <p:cNvSpPr/>
          <p:nvPr/>
        </p:nvSpPr>
        <p:spPr>
          <a:xfrm>
            <a:off x="777240" y="5774436"/>
            <a:ext cx="96012" cy="96012"/>
          </a:xfrm>
          <a:prstGeom prst="ellipse">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5669280"/>
            <a:ext cx="10222992" cy="621792"/>
          </a:xfrm>
          <a:prstGeom prst="rect">
            <a:avLst/>
          </a:prstGeom>
          <a:noFill/>
        </p:spPr>
        <p:txBody>
          <a:bodyPr wrap="square" lIns="0" rIns="0" tIns="0" bIns="0" anchor="t">
            <a:noAutofit/>
          </a:bodyPr>
          <a:lstStyle/>
          <a:p>
            <a:pPr algn="l">
              <a:lnSpc>
                <a:spcPct val="118000"/>
              </a:lnSpc>
            </a:pPr>
            <a:r>
              <a:rPr sz="1550" b="0" i="0">
                <a:solidFill>
                  <a:srgbClr val="334155"/>
                </a:solidFill>
                <a:latin typeface="Arial"/>
              </a:rPr>
              <a:t>Training with all three is composition. Reporting them as a sum assumes combination. </a:t>
            </a:r>
            <a:r>
              <a:rPr sz="1550" b="1" i="0">
                <a:solidFill>
                  <a:srgbClr val="C0392B"/>
                </a:solidFill>
                <a:latin typeface="Arial"/>
              </a:rPr>
              <a:t>That gap is the whole paper.</a:t>
            </a:r>
          </a:p>
        </p:txBody>
      </p:sp>
      <p:sp>
        <p:nvSpPr>
          <p:cNvPr id="15" name="TextBox 14"/>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The research question</a:t>
            </a:r>
          </a:p>
        </p:txBody>
      </p:sp>
      <p:sp>
        <p:nvSpPr>
          <p:cNvPr id="16" name="TextBox 15"/>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WHY ONE-FACTOR-AT-A-TIME CANNOT ANSWER IT</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800" b="1" i="0">
                <a:solidFill>
                  <a:srgbClr val="16202E"/>
                </a:solidFill>
                <a:latin typeface="Arial"/>
              </a:rPr>
              <a:t>Three worlds are possible. Four experiments see one.</a:t>
            </a:r>
          </a:p>
        </p:txBody>
      </p:sp>
      <p:pic>
        <p:nvPicPr>
          <p:cNvPr id="5" name="Picture 4" descr="fig_worlds.png"/>
          <p:cNvPicPr>
            <a:picLocks noChangeAspect="1"/>
          </p:cNvPicPr>
          <p:nvPr/>
        </p:nvPicPr>
        <p:blipFill>
          <a:blip r:embed="rId2"/>
          <a:stretch>
            <a:fillRect/>
          </a:stretch>
        </p:blipFill>
        <p:spPr>
          <a:xfrm>
            <a:off x="777240" y="2212848"/>
            <a:ext cx="10515600" cy="2628900"/>
          </a:xfrm>
          <a:prstGeom prst="rect">
            <a:avLst/>
          </a:prstGeom>
        </p:spPr>
      </p:pic>
      <p:sp>
        <p:nvSpPr>
          <p:cNvPr id="6" name="Rectangle 5"/>
          <p:cNvSpPr/>
          <p:nvPr/>
        </p:nvSpPr>
        <p:spPr>
          <a:xfrm>
            <a:off x="777240" y="5138928"/>
            <a:ext cx="10515600" cy="9144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5138928"/>
            <a:ext cx="9784080" cy="914400"/>
          </a:xfrm>
          <a:prstGeom prst="rect">
            <a:avLst/>
          </a:prstGeom>
          <a:noFill/>
        </p:spPr>
        <p:txBody>
          <a:bodyPr wrap="square" lIns="0" rIns="0" tIns="0" bIns="0" anchor="ctr">
            <a:noAutofit/>
          </a:bodyPr>
          <a:lstStyle/>
          <a:p>
            <a:pPr algn="l">
              <a:lnSpc>
                <a:spcPct val="125000"/>
              </a:lnSpc>
            </a:pPr>
            <a:r>
              <a:rPr sz="1600" b="0" i="0">
                <a:solidFill>
                  <a:srgbClr val="B9C6D8"/>
                </a:solidFill>
                <a:latin typeface="Arial"/>
              </a:rPr>
              <a:t>Run C alone, L alone, D alone and you get three bars — and then you assume the fourth. </a:t>
            </a:r>
            <a:r>
              <a:rPr sz="1600" b="1" i="0">
                <a:solidFill>
                  <a:srgbClr val="FFFFFF"/>
                </a:solidFill>
                <a:latin typeface="Arial"/>
              </a:rPr>
              <a:t>You have to actually run the combination.</a:t>
            </a:r>
          </a:p>
        </p:txBody>
      </p:sp>
      <p:sp>
        <p:nvSpPr>
          <p:cNvPr id="8" name="TextBox 7"/>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The research question</a:t>
            </a:r>
          </a:p>
        </p:txBody>
      </p:sp>
      <p:sp>
        <p:nvSpPr>
          <p:cNvPr id="9" name="TextBox 8"/>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DESIGN</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600" b="1" i="0">
                <a:solidFill>
                  <a:srgbClr val="16202E"/>
                </a:solidFill>
                <a:latin typeface="Arial"/>
              </a:rPr>
              <a:t>A full 2³ factorial — all eight cells</a:t>
            </a:r>
          </a:p>
        </p:txBody>
      </p:sp>
      <p:sp>
        <p:nvSpPr>
          <p:cNvPr id="5" name="Rectangle 4"/>
          <p:cNvSpPr/>
          <p:nvPr/>
        </p:nvSpPr>
        <p:spPr>
          <a:xfrm>
            <a:off x="777240" y="1965960"/>
            <a:ext cx="2487168" cy="1207008"/>
          </a:xfrm>
          <a:prstGeom prst="rect">
            <a:avLst/>
          </a:prstGeom>
          <a:solidFill>
            <a:srgbClr val="FFFFFF"/>
          </a:solidFill>
          <a:ln w="254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67128"/>
            <a:ext cx="2029968" cy="384048"/>
          </a:xfrm>
          <a:prstGeom prst="rect">
            <a:avLst/>
          </a:prstGeom>
          <a:noFill/>
        </p:spPr>
        <p:txBody>
          <a:bodyPr wrap="square" lIns="0" rIns="0" tIns="0" bIns="0" anchor="t">
            <a:noAutofit/>
          </a:bodyPr>
          <a:lstStyle/>
          <a:p>
            <a:pPr algn="l">
              <a:lnSpc>
                <a:spcPct val="100000"/>
              </a:lnSpc>
            </a:pPr>
            <a:r>
              <a:rPr sz="2100" b="1" i="0">
                <a:solidFill>
                  <a:srgbClr val="2563EB"/>
                </a:solidFill>
                <a:latin typeface="Courier New"/>
              </a:rPr>
              <a:t>- - -</a:t>
            </a:r>
          </a:p>
        </p:txBody>
      </p:sp>
      <p:sp>
        <p:nvSpPr>
          <p:cNvPr id="7" name="TextBox 6"/>
          <p:cNvSpPr txBox="1"/>
          <p:nvPr/>
        </p:nvSpPr>
        <p:spPr>
          <a:xfrm>
            <a:off x="1005840" y="2606039"/>
            <a:ext cx="2029968" cy="292608"/>
          </a:xfrm>
          <a:prstGeom prst="rect">
            <a:avLst/>
          </a:prstGeom>
          <a:noFill/>
        </p:spPr>
        <p:txBody>
          <a:bodyPr wrap="square" lIns="0" rIns="0" tIns="0" bIns="0" anchor="t">
            <a:noAutofit/>
          </a:bodyPr>
          <a:lstStyle/>
          <a:p>
            <a:pPr algn="l">
              <a:lnSpc>
                <a:spcPct val="100000"/>
              </a:lnSpc>
            </a:pPr>
            <a:r>
              <a:rPr sz="1200" b="0" i="0">
                <a:solidFill>
                  <a:srgbClr val="708196"/>
                </a:solidFill>
                <a:latin typeface="Arial"/>
              </a:rPr>
              <a:t>naive baseline</a:t>
            </a:r>
          </a:p>
        </p:txBody>
      </p:sp>
      <p:sp>
        <p:nvSpPr>
          <p:cNvPr id="8" name="Oval 7"/>
          <p:cNvSpPr/>
          <p:nvPr/>
        </p:nvSpPr>
        <p:spPr>
          <a:xfrm>
            <a:off x="2395728" y="2240279"/>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651760" y="2240279"/>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907792" y="2240279"/>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47288" y="1965960"/>
            <a:ext cx="2487168" cy="1207008"/>
          </a:xfrm>
          <a:prstGeom prst="rect">
            <a:avLst/>
          </a:prstGeom>
          <a:solidFill>
            <a:srgbClr val="FFFFFF"/>
          </a:solidFill>
          <a:ln w="1587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5887" y="2167128"/>
            <a:ext cx="2029968" cy="384048"/>
          </a:xfrm>
          <a:prstGeom prst="rect">
            <a:avLst/>
          </a:prstGeom>
          <a:noFill/>
        </p:spPr>
        <p:txBody>
          <a:bodyPr wrap="square" lIns="0" rIns="0" tIns="0" bIns="0" anchor="t">
            <a:noAutofit/>
          </a:bodyPr>
          <a:lstStyle/>
          <a:p>
            <a:pPr algn="l">
              <a:lnSpc>
                <a:spcPct val="100000"/>
              </a:lnSpc>
            </a:pPr>
            <a:r>
              <a:rPr sz="2100" b="1" i="0">
                <a:solidFill>
                  <a:srgbClr val="16202E"/>
                </a:solidFill>
                <a:latin typeface="Courier New"/>
              </a:rPr>
              <a:t>C - -</a:t>
            </a:r>
          </a:p>
        </p:txBody>
      </p:sp>
      <p:sp>
        <p:nvSpPr>
          <p:cNvPr id="13" name="TextBox 12"/>
          <p:cNvSpPr txBox="1"/>
          <p:nvPr/>
        </p:nvSpPr>
        <p:spPr>
          <a:xfrm>
            <a:off x="3675887" y="2606039"/>
            <a:ext cx="2029968" cy="292608"/>
          </a:xfrm>
          <a:prstGeom prst="rect">
            <a:avLst/>
          </a:prstGeom>
          <a:noFill/>
        </p:spPr>
        <p:txBody>
          <a:bodyPr wrap="square" lIns="0" rIns="0" tIns="0" bIns="0" anchor="t">
            <a:noAutofit/>
          </a:bodyPr>
          <a:lstStyle/>
          <a:p>
            <a:pPr algn="l">
              <a:lnSpc>
                <a:spcPct val="100000"/>
              </a:lnSpc>
            </a:pPr>
            <a:r>
              <a:rPr sz="1200" b="0" i="0">
                <a:solidFill>
                  <a:srgbClr val="708196"/>
                </a:solidFill>
                <a:latin typeface="Arial"/>
              </a:rPr>
              <a:t>curriculum</a:t>
            </a:r>
          </a:p>
        </p:txBody>
      </p:sp>
      <p:sp>
        <p:nvSpPr>
          <p:cNvPr id="14" name="Oval 13"/>
          <p:cNvSpPr/>
          <p:nvPr/>
        </p:nvSpPr>
        <p:spPr>
          <a:xfrm>
            <a:off x="5065776" y="2240279"/>
            <a:ext cx="173736" cy="173736"/>
          </a:xfrm>
          <a:prstGeom prst="ellipse">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21808" y="2240279"/>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77840" y="2240279"/>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17336" y="1965960"/>
            <a:ext cx="2487168" cy="1207008"/>
          </a:xfrm>
          <a:prstGeom prst="rect">
            <a:avLst/>
          </a:prstGeom>
          <a:solidFill>
            <a:srgbClr val="FFFFFF"/>
          </a:solidFill>
          <a:ln w="1587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2167128"/>
            <a:ext cx="2029968" cy="384048"/>
          </a:xfrm>
          <a:prstGeom prst="rect">
            <a:avLst/>
          </a:prstGeom>
          <a:noFill/>
        </p:spPr>
        <p:txBody>
          <a:bodyPr wrap="square" lIns="0" rIns="0" tIns="0" bIns="0" anchor="t">
            <a:noAutofit/>
          </a:bodyPr>
          <a:lstStyle/>
          <a:p>
            <a:pPr algn="l">
              <a:lnSpc>
                <a:spcPct val="100000"/>
              </a:lnSpc>
            </a:pPr>
            <a:r>
              <a:rPr sz="2100" b="1" i="0">
                <a:solidFill>
                  <a:srgbClr val="16202E"/>
                </a:solidFill>
                <a:latin typeface="Courier New"/>
              </a:rPr>
              <a:t>- L -</a:t>
            </a:r>
          </a:p>
        </p:txBody>
      </p:sp>
      <p:sp>
        <p:nvSpPr>
          <p:cNvPr id="19" name="TextBox 18"/>
          <p:cNvSpPr txBox="1"/>
          <p:nvPr/>
        </p:nvSpPr>
        <p:spPr>
          <a:xfrm>
            <a:off x="6345936" y="2606039"/>
            <a:ext cx="2029968" cy="292608"/>
          </a:xfrm>
          <a:prstGeom prst="rect">
            <a:avLst/>
          </a:prstGeom>
          <a:noFill/>
        </p:spPr>
        <p:txBody>
          <a:bodyPr wrap="square" lIns="0" rIns="0" tIns="0" bIns="0" anchor="t">
            <a:noAutofit/>
          </a:bodyPr>
          <a:lstStyle/>
          <a:p>
            <a:pPr algn="l">
              <a:lnSpc>
                <a:spcPct val="100000"/>
              </a:lnSpc>
            </a:pPr>
            <a:r>
              <a:rPr sz="1200" b="0" i="0">
                <a:solidFill>
                  <a:srgbClr val="708196"/>
                </a:solidFill>
                <a:latin typeface="Arial"/>
              </a:rPr>
              <a:t>LoRA</a:t>
            </a:r>
          </a:p>
        </p:txBody>
      </p:sp>
      <p:sp>
        <p:nvSpPr>
          <p:cNvPr id="20" name="Oval 19"/>
          <p:cNvSpPr/>
          <p:nvPr/>
        </p:nvSpPr>
        <p:spPr>
          <a:xfrm>
            <a:off x="7735824" y="2240279"/>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991856" y="2240279"/>
            <a:ext cx="173736" cy="17373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47888" y="2240279"/>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787384" y="1965960"/>
            <a:ext cx="2487168" cy="1207008"/>
          </a:xfrm>
          <a:prstGeom prst="rect">
            <a:avLst/>
          </a:prstGeom>
          <a:solidFill>
            <a:srgbClr val="FFFFFF"/>
          </a:solidFill>
          <a:ln w="1587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15984" y="2167128"/>
            <a:ext cx="2029968" cy="384048"/>
          </a:xfrm>
          <a:prstGeom prst="rect">
            <a:avLst/>
          </a:prstGeom>
          <a:noFill/>
        </p:spPr>
        <p:txBody>
          <a:bodyPr wrap="square" lIns="0" rIns="0" tIns="0" bIns="0" anchor="t">
            <a:noAutofit/>
          </a:bodyPr>
          <a:lstStyle/>
          <a:p>
            <a:pPr algn="l">
              <a:lnSpc>
                <a:spcPct val="100000"/>
              </a:lnSpc>
            </a:pPr>
            <a:r>
              <a:rPr sz="2100" b="1" i="0">
                <a:solidFill>
                  <a:srgbClr val="16202E"/>
                </a:solidFill>
                <a:latin typeface="Courier New"/>
              </a:rPr>
              <a:t>- - D</a:t>
            </a:r>
          </a:p>
        </p:txBody>
      </p:sp>
      <p:sp>
        <p:nvSpPr>
          <p:cNvPr id="25" name="TextBox 24"/>
          <p:cNvSpPr txBox="1"/>
          <p:nvPr/>
        </p:nvSpPr>
        <p:spPr>
          <a:xfrm>
            <a:off x="9015984" y="2606039"/>
            <a:ext cx="2029968" cy="292608"/>
          </a:xfrm>
          <a:prstGeom prst="rect">
            <a:avLst/>
          </a:prstGeom>
          <a:noFill/>
        </p:spPr>
        <p:txBody>
          <a:bodyPr wrap="square" lIns="0" rIns="0" tIns="0" bIns="0" anchor="t">
            <a:noAutofit/>
          </a:bodyPr>
          <a:lstStyle/>
          <a:p>
            <a:pPr algn="l">
              <a:lnSpc>
                <a:spcPct val="100000"/>
              </a:lnSpc>
            </a:pPr>
            <a:r>
              <a:rPr sz="1200" b="0" i="0">
                <a:solidFill>
                  <a:srgbClr val="708196"/>
                </a:solidFill>
                <a:latin typeface="Arial"/>
              </a:rPr>
              <a:t>distillation</a:t>
            </a:r>
          </a:p>
        </p:txBody>
      </p:sp>
      <p:sp>
        <p:nvSpPr>
          <p:cNvPr id="26" name="Oval 25"/>
          <p:cNvSpPr/>
          <p:nvPr/>
        </p:nvSpPr>
        <p:spPr>
          <a:xfrm>
            <a:off x="10405872" y="2240279"/>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661904" y="2240279"/>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917936" y="2240279"/>
            <a:ext cx="173736" cy="173736"/>
          </a:xfrm>
          <a:prstGeom prst="ellipse">
            <a:avLst/>
          </a:prstGeom>
          <a:solidFill>
            <a:srgbClr val="0E8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3355848"/>
            <a:ext cx="2487168" cy="1207008"/>
          </a:xfrm>
          <a:prstGeom prst="rect">
            <a:avLst/>
          </a:prstGeom>
          <a:solidFill>
            <a:srgbClr val="FFFFFF"/>
          </a:solidFill>
          <a:ln w="1587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3557016"/>
            <a:ext cx="2029968" cy="384048"/>
          </a:xfrm>
          <a:prstGeom prst="rect">
            <a:avLst/>
          </a:prstGeom>
          <a:noFill/>
        </p:spPr>
        <p:txBody>
          <a:bodyPr wrap="square" lIns="0" rIns="0" tIns="0" bIns="0" anchor="t">
            <a:noAutofit/>
          </a:bodyPr>
          <a:lstStyle/>
          <a:p>
            <a:pPr algn="l">
              <a:lnSpc>
                <a:spcPct val="100000"/>
              </a:lnSpc>
            </a:pPr>
            <a:r>
              <a:rPr sz="2100" b="1" i="0">
                <a:solidFill>
                  <a:srgbClr val="16202E"/>
                </a:solidFill>
                <a:latin typeface="Courier New"/>
              </a:rPr>
              <a:t>C L -</a:t>
            </a:r>
          </a:p>
        </p:txBody>
      </p:sp>
      <p:sp>
        <p:nvSpPr>
          <p:cNvPr id="31" name="TextBox 30"/>
          <p:cNvSpPr txBox="1"/>
          <p:nvPr/>
        </p:nvSpPr>
        <p:spPr>
          <a:xfrm>
            <a:off x="1005840" y="3995928"/>
            <a:ext cx="2029968" cy="292608"/>
          </a:xfrm>
          <a:prstGeom prst="rect">
            <a:avLst/>
          </a:prstGeom>
          <a:noFill/>
        </p:spPr>
        <p:txBody>
          <a:bodyPr wrap="square" lIns="0" rIns="0" tIns="0" bIns="0" anchor="t">
            <a:noAutofit/>
          </a:bodyPr>
          <a:lstStyle/>
          <a:p>
            <a:pPr algn="l">
              <a:lnSpc>
                <a:spcPct val="100000"/>
              </a:lnSpc>
            </a:pPr>
            <a:r>
              <a:rPr sz="1200" b="0" i="0">
                <a:solidFill>
                  <a:srgbClr val="708196"/>
                </a:solidFill>
                <a:latin typeface="Arial"/>
              </a:rPr>
              <a:t>curr + LoRA</a:t>
            </a:r>
          </a:p>
        </p:txBody>
      </p:sp>
      <p:sp>
        <p:nvSpPr>
          <p:cNvPr id="32" name="Oval 31"/>
          <p:cNvSpPr/>
          <p:nvPr/>
        </p:nvSpPr>
        <p:spPr>
          <a:xfrm>
            <a:off x="2395728" y="3630168"/>
            <a:ext cx="173736" cy="173736"/>
          </a:xfrm>
          <a:prstGeom prst="ellipse">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651760" y="3630168"/>
            <a:ext cx="173736" cy="17373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907792" y="3630168"/>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447288" y="3355848"/>
            <a:ext cx="2487168" cy="1207008"/>
          </a:xfrm>
          <a:prstGeom prst="rect">
            <a:avLst/>
          </a:prstGeom>
          <a:solidFill>
            <a:srgbClr val="FFFFFF"/>
          </a:solidFill>
          <a:ln w="1587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5887" y="3557016"/>
            <a:ext cx="2029968" cy="384048"/>
          </a:xfrm>
          <a:prstGeom prst="rect">
            <a:avLst/>
          </a:prstGeom>
          <a:noFill/>
        </p:spPr>
        <p:txBody>
          <a:bodyPr wrap="square" lIns="0" rIns="0" tIns="0" bIns="0" anchor="t">
            <a:noAutofit/>
          </a:bodyPr>
          <a:lstStyle/>
          <a:p>
            <a:pPr algn="l">
              <a:lnSpc>
                <a:spcPct val="100000"/>
              </a:lnSpc>
            </a:pPr>
            <a:r>
              <a:rPr sz="2100" b="1" i="0">
                <a:solidFill>
                  <a:srgbClr val="16202E"/>
                </a:solidFill>
                <a:latin typeface="Courier New"/>
              </a:rPr>
              <a:t>C - D</a:t>
            </a:r>
          </a:p>
        </p:txBody>
      </p:sp>
      <p:sp>
        <p:nvSpPr>
          <p:cNvPr id="37" name="TextBox 36"/>
          <p:cNvSpPr txBox="1"/>
          <p:nvPr/>
        </p:nvSpPr>
        <p:spPr>
          <a:xfrm>
            <a:off x="3675887" y="3995928"/>
            <a:ext cx="2029968" cy="292608"/>
          </a:xfrm>
          <a:prstGeom prst="rect">
            <a:avLst/>
          </a:prstGeom>
          <a:noFill/>
        </p:spPr>
        <p:txBody>
          <a:bodyPr wrap="square" lIns="0" rIns="0" tIns="0" bIns="0" anchor="t">
            <a:noAutofit/>
          </a:bodyPr>
          <a:lstStyle/>
          <a:p>
            <a:pPr algn="l">
              <a:lnSpc>
                <a:spcPct val="100000"/>
              </a:lnSpc>
            </a:pPr>
            <a:r>
              <a:rPr sz="1200" b="0" i="0">
                <a:solidFill>
                  <a:srgbClr val="708196"/>
                </a:solidFill>
                <a:latin typeface="Arial"/>
              </a:rPr>
              <a:t>curr + distil</a:t>
            </a:r>
          </a:p>
        </p:txBody>
      </p:sp>
      <p:sp>
        <p:nvSpPr>
          <p:cNvPr id="38" name="Oval 37"/>
          <p:cNvSpPr/>
          <p:nvPr/>
        </p:nvSpPr>
        <p:spPr>
          <a:xfrm>
            <a:off x="5065776" y="3630168"/>
            <a:ext cx="173736" cy="173736"/>
          </a:xfrm>
          <a:prstGeom prst="ellipse">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321808" y="3630168"/>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577840" y="3630168"/>
            <a:ext cx="173736" cy="173736"/>
          </a:xfrm>
          <a:prstGeom prst="ellipse">
            <a:avLst/>
          </a:prstGeom>
          <a:solidFill>
            <a:srgbClr val="0E8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17336" y="3355848"/>
            <a:ext cx="2487168" cy="1207008"/>
          </a:xfrm>
          <a:prstGeom prst="rect">
            <a:avLst/>
          </a:prstGeom>
          <a:solidFill>
            <a:srgbClr val="FFFFFF"/>
          </a:solidFill>
          <a:ln w="1587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45936" y="3557016"/>
            <a:ext cx="2029968" cy="384048"/>
          </a:xfrm>
          <a:prstGeom prst="rect">
            <a:avLst/>
          </a:prstGeom>
          <a:noFill/>
        </p:spPr>
        <p:txBody>
          <a:bodyPr wrap="square" lIns="0" rIns="0" tIns="0" bIns="0" anchor="t">
            <a:noAutofit/>
          </a:bodyPr>
          <a:lstStyle/>
          <a:p>
            <a:pPr algn="l">
              <a:lnSpc>
                <a:spcPct val="100000"/>
              </a:lnSpc>
            </a:pPr>
            <a:r>
              <a:rPr sz="2100" b="1" i="0">
                <a:solidFill>
                  <a:srgbClr val="16202E"/>
                </a:solidFill>
                <a:latin typeface="Courier New"/>
              </a:rPr>
              <a:t>- L D</a:t>
            </a:r>
          </a:p>
        </p:txBody>
      </p:sp>
      <p:sp>
        <p:nvSpPr>
          <p:cNvPr id="43" name="TextBox 42"/>
          <p:cNvSpPr txBox="1"/>
          <p:nvPr/>
        </p:nvSpPr>
        <p:spPr>
          <a:xfrm>
            <a:off x="6345936" y="3995928"/>
            <a:ext cx="2029968" cy="292608"/>
          </a:xfrm>
          <a:prstGeom prst="rect">
            <a:avLst/>
          </a:prstGeom>
          <a:noFill/>
        </p:spPr>
        <p:txBody>
          <a:bodyPr wrap="square" lIns="0" rIns="0" tIns="0" bIns="0" anchor="t">
            <a:noAutofit/>
          </a:bodyPr>
          <a:lstStyle/>
          <a:p>
            <a:pPr algn="l">
              <a:lnSpc>
                <a:spcPct val="100000"/>
              </a:lnSpc>
            </a:pPr>
            <a:r>
              <a:rPr sz="1200" b="0" i="0">
                <a:solidFill>
                  <a:srgbClr val="708196"/>
                </a:solidFill>
                <a:latin typeface="Arial"/>
              </a:rPr>
              <a:t>LoRA + distil</a:t>
            </a:r>
          </a:p>
        </p:txBody>
      </p:sp>
      <p:sp>
        <p:nvSpPr>
          <p:cNvPr id="44" name="Oval 43"/>
          <p:cNvSpPr/>
          <p:nvPr/>
        </p:nvSpPr>
        <p:spPr>
          <a:xfrm>
            <a:off x="7735824" y="3630168"/>
            <a:ext cx="173736" cy="173736"/>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991856" y="3630168"/>
            <a:ext cx="173736" cy="17373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247888" y="3630168"/>
            <a:ext cx="173736" cy="173736"/>
          </a:xfrm>
          <a:prstGeom prst="ellipse">
            <a:avLst/>
          </a:prstGeom>
          <a:solidFill>
            <a:srgbClr val="0E8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787384" y="3355848"/>
            <a:ext cx="2487168" cy="1207008"/>
          </a:xfrm>
          <a:prstGeom prst="rect">
            <a:avLst/>
          </a:prstGeom>
          <a:solidFill>
            <a:srgbClr val="0F1B2D"/>
          </a:solidFill>
          <a:ln w="254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15984" y="3557016"/>
            <a:ext cx="2029968" cy="384048"/>
          </a:xfrm>
          <a:prstGeom prst="rect">
            <a:avLst/>
          </a:prstGeom>
          <a:noFill/>
        </p:spPr>
        <p:txBody>
          <a:bodyPr wrap="square" lIns="0" rIns="0" tIns="0" bIns="0" anchor="t">
            <a:noAutofit/>
          </a:bodyPr>
          <a:lstStyle/>
          <a:p>
            <a:pPr algn="l">
              <a:lnSpc>
                <a:spcPct val="100000"/>
              </a:lnSpc>
            </a:pPr>
            <a:r>
              <a:rPr sz="2100" b="1" i="0">
                <a:solidFill>
                  <a:srgbClr val="FFFFFF"/>
                </a:solidFill>
                <a:latin typeface="Courier New"/>
              </a:rPr>
              <a:t>C L D</a:t>
            </a:r>
          </a:p>
        </p:txBody>
      </p:sp>
      <p:sp>
        <p:nvSpPr>
          <p:cNvPr id="49" name="TextBox 48"/>
          <p:cNvSpPr txBox="1"/>
          <p:nvPr/>
        </p:nvSpPr>
        <p:spPr>
          <a:xfrm>
            <a:off x="9015984" y="3995928"/>
            <a:ext cx="2029968" cy="292608"/>
          </a:xfrm>
          <a:prstGeom prst="rect">
            <a:avLst/>
          </a:prstGeom>
          <a:noFill/>
        </p:spPr>
        <p:txBody>
          <a:bodyPr wrap="square" lIns="0" rIns="0" tIns="0" bIns="0" anchor="t">
            <a:noAutofit/>
          </a:bodyPr>
          <a:lstStyle/>
          <a:p>
            <a:pPr algn="l">
              <a:lnSpc>
                <a:spcPct val="100000"/>
              </a:lnSpc>
            </a:pPr>
            <a:r>
              <a:rPr sz="1200" b="0" i="0">
                <a:solidFill>
                  <a:srgbClr val="9FB0C6"/>
                </a:solidFill>
                <a:latin typeface="Arial"/>
              </a:rPr>
              <a:t>full CG-PED</a:t>
            </a:r>
          </a:p>
        </p:txBody>
      </p:sp>
      <p:sp>
        <p:nvSpPr>
          <p:cNvPr id="50" name="Oval 49"/>
          <p:cNvSpPr/>
          <p:nvPr/>
        </p:nvSpPr>
        <p:spPr>
          <a:xfrm>
            <a:off x="10405872" y="3630168"/>
            <a:ext cx="173736" cy="173736"/>
          </a:xfrm>
          <a:prstGeom prst="ellipse">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661904" y="3630168"/>
            <a:ext cx="173736" cy="17373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917936" y="3630168"/>
            <a:ext cx="173736" cy="173736"/>
          </a:xfrm>
          <a:prstGeom prst="ellipse">
            <a:avLst/>
          </a:prstGeom>
          <a:solidFill>
            <a:srgbClr val="0E8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77240" y="4882896"/>
            <a:ext cx="10515600" cy="27432"/>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 y="5120640"/>
            <a:ext cx="1051560" cy="548640"/>
          </a:xfrm>
          <a:prstGeom prst="rect">
            <a:avLst/>
          </a:prstGeom>
          <a:noFill/>
        </p:spPr>
        <p:txBody>
          <a:bodyPr wrap="square" lIns="0" rIns="0" tIns="0" bIns="0" anchor="t">
            <a:noAutofit/>
          </a:bodyPr>
          <a:lstStyle/>
          <a:p>
            <a:pPr algn="ctr">
              <a:lnSpc>
                <a:spcPct val="100000"/>
              </a:lnSpc>
            </a:pPr>
            <a:r>
              <a:rPr sz="3100" b="1" i="0">
                <a:solidFill>
                  <a:srgbClr val="16202E"/>
                </a:solidFill>
                <a:latin typeface="Arial"/>
              </a:rPr>
              <a:t>8</a:t>
            </a:r>
          </a:p>
        </p:txBody>
      </p:sp>
      <p:sp>
        <p:nvSpPr>
          <p:cNvPr id="55" name="TextBox 54"/>
          <p:cNvSpPr txBox="1"/>
          <p:nvPr/>
        </p:nvSpPr>
        <p:spPr>
          <a:xfrm>
            <a:off x="502919" y="5632704"/>
            <a:ext cx="1783080" cy="292608"/>
          </a:xfrm>
          <a:prstGeom prst="rect">
            <a:avLst/>
          </a:prstGeom>
          <a:noFill/>
        </p:spPr>
        <p:txBody>
          <a:bodyPr wrap="square" lIns="0" rIns="0" tIns="0" bIns="0" anchor="t">
            <a:noAutofit/>
          </a:bodyPr>
          <a:lstStyle/>
          <a:p>
            <a:pPr algn="ctr">
              <a:lnSpc>
                <a:spcPct val="100000"/>
              </a:lnSpc>
            </a:pPr>
            <a:r>
              <a:rPr sz="1150" b="0" i="0">
                <a:solidFill>
                  <a:srgbClr val="708196"/>
                </a:solidFill>
                <a:latin typeface="Arial"/>
              </a:rPr>
              <a:t>cells</a:t>
            </a:r>
          </a:p>
        </p:txBody>
      </p:sp>
      <p:sp>
        <p:nvSpPr>
          <p:cNvPr id="56" name="TextBox 55"/>
          <p:cNvSpPr txBox="1"/>
          <p:nvPr/>
        </p:nvSpPr>
        <p:spPr>
          <a:xfrm>
            <a:off x="2148839" y="5120640"/>
            <a:ext cx="457200" cy="548640"/>
          </a:xfrm>
          <a:prstGeom prst="rect">
            <a:avLst/>
          </a:prstGeom>
          <a:noFill/>
        </p:spPr>
        <p:txBody>
          <a:bodyPr wrap="square" lIns="0" rIns="0" tIns="0" bIns="0" anchor="t">
            <a:noAutofit/>
          </a:bodyPr>
          <a:lstStyle/>
          <a:p>
            <a:pPr algn="ctr">
              <a:lnSpc>
                <a:spcPct val="100000"/>
              </a:lnSpc>
            </a:pPr>
            <a:r>
              <a:rPr sz="2400" b="1" i="0">
                <a:solidFill>
                  <a:srgbClr val="16202E"/>
                </a:solidFill>
                <a:latin typeface="Arial"/>
              </a:rPr>
              <a:t>×</a:t>
            </a:r>
          </a:p>
        </p:txBody>
      </p:sp>
      <p:sp>
        <p:nvSpPr>
          <p:cNvPr id="57" name="TextBox 56"/>
          <p:cNvSpPr txBox="1"/>
          <p:nvPr/>
        </p:nvSpPr>
        <p:spPr>
          <a:xfrm>
            <a:off x="2834639" y="5120640"/>
            <a:ext cx="1051560" cy="548640"/>
          </a:xfrm>
          <a:prstGeom prst="rect">
            <a:avLst/>
          </a:prstGeom>
          <a:noFill/>
        </p:spPr>
        <p:txBody>
          <a:bodyPr wrap="square" lIns="0" rIns="0" tIns="0" bIns="0" anchor="t">
            <a:noAutofit/>
          </a:bodyPr>
          <a:lstStyle/>
          <a:p>
            <a:pPr algn="ctr">
              <a:lnSpc>
                <a:spcPct val="100000"/>
              </a:lnSpc>
            </a:pPr>
            <a:r>
              <a:rPr sz="3100" b="1" i="0">
                <a:solidFill>
                  <a:srgbClr val="16202E"/>
                </a:solidFill>
                <a:latin typeface="Arial"/>
              </a:rPr>
              <a:t>3</a:t>
            </a:r>
          </a:p>
        </p:txBody>
      </p:sp>
      <p:sp>
        <p:nvSpPr>
          <p:cNvPr id="58" name="TextBox 57"/>
          <p:cNvSpPr txBox="1"/>
          <p:nvPr/>
        </p:nvSpPr>
        <p:spPr>
          <a:xfrm>
            <a:off x="2468879" y="5632704"/>
            <a:ext cx="1783080" cy="292608"/>
          </a:xfrm>
          <a:prstGeom prst="rect">
            <a:avLst/>
          </a:prstGeom>
          <a:noFill/>
        </p:spPr>
        <p:txBody>
          <a:bodyPr wrap="square" lIns="0" rIns="0" tIns="0" bIns="0" anchor="t">
            <a:noAutofit/>
          </a:bodyPr>
          <a:lstStyle/>
          <a:p>
            <a:pPr algn="ctr">
              <a:lnSpc>
                <a:spcPct val="100000"/>
              </a:lnSpc>
            </a:pPr>
            <a:r>
              <a:rPr sz="1150" b="0" i="0">
                <a:solidFill>
                  <a:srgbClr val="708196"/>
                </a:solidFill>
                <a:latin typeface="Arial"/>
              </a:rPr>
              <a:t>seeds</a:t>
            </a:r>
          </a:p>
        </p:txBody>
      </p:sp>
      <p:sp>
        <p:nvSpPr>
          <p:cNvPr id="59" name="TextBox 58"/>
          <p:cNvSpPr txBox="1"/>
          <p:nvPr/>
        </p:nvSpPr>
        <p:spPr>
          <a:xfrm>
            <a:off x="4114800" y="5120640"/>
            <a:ext cx="457200" cy="548640"/>
          </a:xfrm>
          <a:prstGeom prst="rect">
            <a:avLst/>
          </a:prstGeom>
          <a:noFill/>
        </p:spPr>
        <p:txBody>
          <a:bodyPr wrap="square" lIns="0" rIns="0" tIns="0" bIns="0" anchor="t">
            <a:noAutofit/>
          </a:bodyPr>
          <a:lstStyle/>
          <a:p>
            <a:pPr algn="ctr">
              <a:lnSpc>
                <a:spcPct val="100000"/>
              </a:lnSpc>
            </a:pPr>
            <a:r>
              <a:rPr sz="2400" b="1" i="0">
                <a:solidFill>
                  <a:srgbClr val="16202E"/>
                </a:solidFill>
                <a:latin typeface="Arial"/>
              </a:rPr>
              <a:t>×</a:t>
            </a:r>
          </a:p>
        </p:txBody>
      </p:sp>
      <p:sp>
        <p:nvSpPr>
          <p:cNvPr id="60" name="TextBox 59"/>
          <p:cNvSpPr txBox="1"/>
          <p:nvPr/>
        </p:nvSpPr>
        <p:spPr>
          <a:xfrm>
            <a:off x="4800600" y="5120640"/>
            <a:ext cx="1051560" cy="548640"/>
          </a:xfrm>
          <a:prstGeom prst="rect">
            <a:avLst/>
          </a:prstGeom>
          <a:noFill/>
        </p:spPr>
        <p:txBody>
          <a:bodyPr wrap="square" lIns="0" rIns="0" tIns="0" bIns="0" anchor="t">
            <a:noAutofit/>
          </a:bodyPr>
          <a:lstStyle/>
          <a:p>
            <a:pPr algn="ctr">
              <a:lnSpc>
                <a:spcPct val="100000"/>
              </a:lnSpc>
            </a:pPr>
            <a:r>
              <a:rPr sz="3100" b="1" i="0">
                <a:solidFill>
                  <a:srgbClr val="16202E"/>
                </a:solidFill>
                <a:latin typeface="Arial"/>
              </a:rPr>
              <a:t>2</a:t>
            </a:r>
          </a:p>
        </p:txBody>
      </p:sp>
      <p:sp>
        <p:nvSpPr>
          <p:cNvPr id="61" name="TextBox 60"/>
          <p:cNvSpPr txBox="1"/>
          <p:nvPr/>
        </p:nvSpPr>
        <p:spPr>
          <a:xfrm>
            <a:off x="4434840" y="5632704"/>
            <a:ext cx="1783080" cy="292608"/>
          </a:xfrm>
          <a:prstGeom prst="rect">
            <a:avLst/>
          </a:prstGeom>
          <a:noFill/>
        </p:spPr>
        <p:txBody>
          <a:bodyPr wrap="square" lIns="0" rIns="0" tIns="0" bIns="0" anchor="t">
            <a:noAutofit/>
          </a:bodyPr>
          <a:lstStyle/>
          <a:p>
            <a:pPr algn="ctr">
              <a:lnSpc>
                <a:spcPct val="100000"/>
              </a:lnSpc>
            </a:pPr>
            <a:r>
              <a:rPr sz="1150" b="0" i="0">
                <a:solidFill>
                  <a:srgbClr val="708196"/>
                </a:solidFill>
                <a:latin typeface="Arial"/>
              </a:rPr>
              <a:t>benchmarks</a:t>
            </a:r>
          </a:p>
        </p:txBody>
      </p:sp>
      <p:sp>
        <p:nvSpPr>
          <p:cNvPr id="62" name="TextBox 61"/>
          <p:cNvSpPr txBox="1"/>
          <p:nvPr/>
        </p:nvSpPr>
        <p:spPr>
          <a:xfrm>
            <a:off x="6080760" y="5120640"/>
            <a:ext cx="457200" cy="548640"/>
          </a:xfrm>
          <a:prstGeom prst="rect">
            <a:avLst/>
          </a:prstGeom>
          <a:noFill/>
        </p:spPr>
        <p:txBody>
          <a:bodyPr wrap="square" lIns="0" rIns="0" tIns="0" bIns="0" anchor="t">
            <a:noAutofit/>
          </a:bodyPr>
          <a:lstStyle/>
          <a:p>
            <a:pPr algn="ctr">
              <a:lnSpc>
                <a:spcPct val="100000"/>
              </a:lnSpc>
            </a:pPr>
            <a:r>
              <a:rPr sz="2400" b="1" i="0">
                <a:solidFill>
                  <a:srgbClr val="16202E"/>
                </a:solidFill>
                <a:latin typeface="Arial"/>
              </a:rPr>
              <a:t>=</a:t>
            </a:r>
          </a:p>
        </p:txBody>
      </p:sp>
      <p:sp>
        <p:nvSpPr>
          <p:cNvPr id="63" name="TextBox 62"/>
          <p:cNvSpPr txBox="1"/>
          <p:nvPr/>
        </p:nvSpPr>
        <p:spPr>
          <a:xfrm>
            <a:off x="6766560" y="5120640"/>
            <a:ext cx="1051560" cy="548640"/>
          </a:xfrm>
          <a:prstGeom prst="rect">
            <a:avLst/>
          </a:prstGeom>
          <a:noFill/>
        </p:spPr>
        <p:txBody>
          <a:bodyPr wrap="square" lIns="0" rIns="0" tIns="0" bIns="0" anchor="t">
            <a:noAutofit/>
          </a:bodyPr>
          <a:lstStyle/>
          <a:p>
            <a:pPr algn="ctr">
              <a:lnSpc>
                <a:spcPct val="100000"/>
              </a:lnSpc>
            </a:pPr>
            <a:r>
              <a:rPr sz="3100" b="1" i="0">
                <a:solidFill>
                  <a:srgbClr val="C0392B"/>
                </a:solidFill>
                <a:latin typeface="Arial"/>
              </a:rPr>
              <a:t>48</a:t>
            </a:r>
          </a:p>
        </p:txBody>
      </p:sp>
      <p:sp>
        <p:nvSpPr>
          <p:cNvPr id="64" name="TextBox 63"/>
          <p:cNvSpPr txBox="1"/>
          <p:nvPr/>
        </p:nvSpPr>
        <p:spPr>
          <a:xfrm>
            <a:off x="6400800" y="5632704"/>
            <a:ext cx="1783080" cy="292608"/>
          </a:xfrm>
          <a:prstGeom prst="rect">
            <a:avLst/>
          </a:prstGeom>
          <a:noFill/>
        </p:spPr>
        <p:txBody>
          <a:bodyPr wrap="square" lIns="0" rIns="0" tIns="0" bIns="0" anchor="t">
            <a:noAutofit/>
          </a:bodyPr>
          <a:lstStyle/>
          <a:p>
            <a:pPr algn="ctr">
              <a:lnSpc>
                <a:spcPct val="100000"/>
              </a:lnSpc>
            </a:pPr>
            <a:r>
              <a:rPr sz="1150" b="0" i="0">
                <a:solidFill>
                  <a:srgbClr val="708196"/>
                </a:solidFill>
                <a:latin typeface="Arial"/>
              </a:rPr>
              <a:t>training runs</a:t>
            </a:r>
          </a:p>
        </p:txBody>
      </p:sp>
      <p:sp>
        <p:nvSpPr>
          <p:cNvPr id="65" name="TextBox 64"/>
          <p:cNvSpPr txBox="1"/>
          <p:nvPr/>
        </p:nvSpPr>
        <p:spPr>
          <a:xfrm>
            <a:off x="8549640" y="5120640"/>
            <a:ext cx="2743200" cy="1005840"/>
          </a:xfrm>
          <a:prstGeom prst="rect">
            <a:avLst/>
          </a:prstGeom>
          <a:noFill/>
        </p:spPr>
        <p:txBody>
          <a:bodyPr wrap="square" lIns="0" rIns="0" tIns="0" bIns="0" anchor="t">
            <a:noAutofit/>
          </a:bodyPr>
          <a:lstStyle/>
          <a:p>
            <a:pPr algn="l">
              <a:lnSpc>
                <a:spcPct val="125000"/>
              </a:lnSpc>
            </a:pPr>
            <a:r>
              <a:rPr sz="1300" b="0" i="0">
                <a:solidFill>
                  <a:srgbClr val="708196"/>
                </a:solidFill>
                <a:latin typeface="Arial"/>
              </a:rPr>
              <a:t>Everything else held identical: architecture, learning rate, batch size, step budget, seeds.</a:t>
            </a:r>
          </a:p>
        </p:txBody>
      </p:sp>
      <p:sp>
        <p:nvSpPr>
          <p:cNvPr id="66" name="TextBox 65"/>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Design</a:t>
            </a:r>
          </a:p>
        </p:txBody>
      </p:sp>
      <p:sp>
        <p:nvSpPr>
          <p:cNvPr id="67" name="TextBox 66"/>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DESIGN</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800" b="1" i="0">
                <a:solidFill>
                  <a:srgbClr val="16202E"/>
                </a:solidFill>
                <a:latin typeface="Arial"/>
              </a:rPr>
              <a:t>Why eight cells, when four would look cheaper</a:t>
            </a:r>
          </a:p>
        </p:txBody>
      </p:sp>
      <p:sp>
        <p:nvSpPr>
          <p:cNvPr id="5" name="Rectangle 4"/>
          <p:cNvSpPr/>
          <p:nvPr/>
        </p:nvSpPr>
        <p:spPr>
          <a:xfrm>
            <a:off x="777240" y="2103120"/>
            <a:ext cx="5074920" cy="3200400"/>
          </a:xfrm>
          <a:prstGeom prst="rect">
            <a:avLst/>
          </a:prstGeom>
          <a:solidFill>
            <a:srgbClr val="FFFFFF"/>
          </a:solidFill>
          <a:ln w="15875">
            <a:solidFill>
              <a:srgbClr val="DCE3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423160"/>
            <a:ext cx="4480560" cy="411480"/>
          </a:xfrm>
          <a:prstGeom prst="rect">
            <a:avLst/>
          </a:prstGeom>
          <a:noFill/>
        </p:spPr>
        <p:txBody>
          <a:bodyPr wrap="square" lIns="0" rIns="0" tIns="0" bIns="0" anchor="t">
            <a:noAutofit/>
          </a:bodyPr>
          <a:lstStyle/>
          <a:p>
            <a:pPr algn="l">
              <a:lnSpc>
                <a:spcPct val="100000"/>
              </a:lnSpc>
            </a:pPr>
            <a:r>
              <a:rPr sz="1500" b="1" i="0">
                <a:solidFill>
                  <a:srgbClr val="708196"/>
                </a:solidFill>
                <a:latin typeface="Arial"/>
              </a:rPr>
              <a:t>FOUR CELLS</a:t>
            </a:r>
          </a:p>
        </p:txBody>
      </p:sp>
      <p:sp>
        <p:nvSpPr>
          <p:cNvPr id="7" name="TextBox 6"/>
          <p:cNvSpPr txBox="1"/>
          <p:nvPr/>
        </p:nvSpPr>
        <p:spPr>
          <a:xfrm>
            <a:off x="1097280" y="2880360"/>
            <a:ext cx="4480560" cy="457200"/>
          </a:xfrm>
          <a:prstGeom prst="rect">
            <a:avLst/>
          </a:prstGeom>
          <a:noFill/>
        </p:spPr>
        <p:txBody>
          <a:bodyPr wrap="square" lIns="0" rIns="0" tIns="0" bIns="0" anchor="t">
            <a:noAutofit/>
          </a:bodyPr>
          <a:lstStyle/>
          <a:p>
            <a:pPr algn="l">
              <a:lnSpc>
                <a:spcPct val="100000"/>
              </a:lnSpc>
            </a:pPr>
            <a:r>
              <a:rPr sz="2000" b="1" i="0">
                <a:solidFill>
                  <a:srgbClr val="16202E"/>
                </a:solidFill>
                <a:latin typeface="Arial"/>
              </a:rPr>
              <a:t>one-factor-at-a-time</a:t>
            </a:r>
          </a:p>
        </p:txBody>
      </p:sp>
      <p:sp>
        <p:nvSpPr>
          <p:cNvPr id="8" name="Oval 7"/>
          <p:cNvSpPr/>
          <p:nvPr/>
        </p:nvSpPr>
        <p:spPr>
          <a:xfrm>
            <a:off x="1097280" y="3717036"/>
            <a:ext cx="82296" cy="82296"/>
          </a:xfrm>
          <a:prstGeom prst="ellipse">
            <a:avLst/>
          </a:prstGeom>
          <a:solidFill>
            <a:srgbClr val="708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89888" y="3611880"/>
            <a:ext cx="4187952" cy="457200"/>
          </a:xfrm>
          <a:prstGeom prst="rect">
            <a:avLst/>
          </a:prstGeom>
          <a:noFill/>
        </p:spPr>
        <p:txBody>
          <a:bodyPr wrap="square" lIns="0" rIns="0" tIns="0" bIns="0" anchor="t">
            <a:noAutofit/>
          </a:bodyPr>
          <a:lstStyle/>
          <a:p>
            <a:pPr algn="l">
              <a:lnSpc>
                <a:spcPct val="118000"/>
              </a:lnSpc>
            </a:pPr>
            <a:r>
              <a:rPr sz="1450" b="0" i="0">
                <a:solidFill>
                  <a:srgbClr val="334155"/>
                </a:solidFill>
                <a:latin typeface="Arial"/>
              </a:rPr>
              <a:t>each factor's effect vs baseline</a:t>
            </a:r>
          </a:p>
        </p:txBody>
      </p:sp>
      <p:sp>
        <p:nvSpPr>
          <p:cNvPr id="10" name="Oval 9"/>
          <p:cNvSpPr/>
          <p:nvPr/>
        </p:nvSpPr>
        <p:spPr>
          <a:xfrm>
            <a:off x="1097280" y="4192524"/>
            <a:ext cx="82296" cy="82296"/>
          </a:xfrm>
          <a:prstGeom prst="ellipse">
            <a:avLst/>
          </a:prstGeom>
          <a:solidFill>
            <a:srgbClr val="708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89888" y="4087368"/>
            <a:ext cx="4187952" cy="457200"/>
          </a:xfrm>
          <a:prstGeom prst="rect">
            <a:avLst/>
          </a:prstGeom>
          <a:noFill/>
        </p:spPr>
        <p:txBody>
          <a:bodyPr wrap="square" lIns="0" rIns="0" tIns="0" bIns="0" anchor="t">
            <a:noAutofit/>
          </a:bodyPr>
          <a:lstStyle/>
          <a:p>
            <a:pPr algn="l">
              <a:lnSpc>
                <a:spcPct val="118000"/>
              </a:lnSpc>
            </a:pPr>
            <a:r>
              <a:rPr sz="1450" b="0" i="0">
                <a:solidFill>
                  <a:srgbClr val="334155"/>
                </a:solidFill>
                <a:latin typeface="Arial"/>
              </a:rPr>
              <a:t>no interaction term</a:t>
            </a:r>
          </a:p>
        </p:txBody>
      </p:sp>
      <p:sp>
        <p:nvSpPr>
          <p:cNvPr id="12" name="Oval 11"/>
          <p:cNvSpPr/>
          <p:nvPr/>
        </p:nvSpPr>
        <p:spPr>
          <a:xfrm>
            <a:off x="1097280" y="4668012"/>
            <a:ext cx="82296" cy="82296"/>
          </a:xfrm>
          <a:prstGeom prst="ellipse">
            <a:avLst/>
          </a:prstGeom>
          <a:solidFill>
            <a:srgbClr val="7081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89888" y="4562856"/>
            <a:ext cx="4187952" cy="457200"/>
          </a:xfrm>
          <a:prstGeom prst="rect">
            <a:avLst/>
          </a:prstGeom>
          <a:noFill/>
        </p:spPr>
        <p:txBody>
          <a:bodyPr wrap="square" lIns="0" rIns="0" tIns="0" bIns="0" anchor="t">
            <a:noAutofit/>
          </a:bodyPr>
          <a:lstStyle/>
          <a:p>
            <a:pPr algn="l">
              <a:lnSpc>
                <a:spcPct val="118000"/>
              </a:lnSpc>
            </a:pPr>
            <a:r>
              <a:rPr sz="1450" b="0" i="0">
                <a:solidFill>
                  <a:srgbClr val="334155"/>
                </a:solidFill>
                <a:latin typeface="Arial"/>
              </a:rPr>
              <a:t>no independent noise estimate</a:t>
            </a:r>
          </a:p>
        </p:txBody>
      </p:sp>
      <p:sp>
        <p:nvSpPr>
          <p:cNvPr id="14" name="Rectangle 13"/>
          <p:cNvSpPr/>
          <p:nvPr/>
        </p:nvSpPr>
        <p:spPr>
          <a:xfrm>
            <a:off x="6217920" y="2103120"/>
            <a:ext cx="5074920" cy="32004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2423160"/>
            <a:ext cx="4480560" cy="411480"/>
          </a:xfrm>
          <a:prstGeom prst="rect">
            <a:avLst/>
          </a:prstGeom>
          <a:noFill/>
        </p:spPr>
        <p:txBody>
          <a:bodyPr wrap="square" lIns="0" rIns="0" tIns="0" bIns="0" anchor="t">
            <a:noAutofit/>
          </a:bodyPr>
          <a:lstStyle/>
          <a:p>
            <a:pPr algn="l">
              <a:lnSpc>
                <a:spcPct val="100000"/>
              </a:lnSpc>
            </a:pPr>
            <a:r>
              <a:rPr sz="1500" b="1" i="0">
                <a:solidFill>
                  <a:srgbClr val="F0B429"/>
                </a:solidFill>
                <a:latin typeface="Arial"/>
              </a:rPr>
              <a:t>EIGHT CELLS</a:t>
            </a:r>
          </a:p>
        </p:txBody>
      </p:sp>
      <p:sp>
        <p:nvSpPr>
          <p:cNvPr id="16" name="TextBox 15"/>
          <p:cNvSpPr txBox="1"/>
          <p:nvPr/>
        </p:nvSpPr>
        <p:spPr>
          <a:xfrm>
            <a:off x="6537960" y="2880360"/>
            <a:ext cx="4480560" cy="457200"/>
          </a:xfrm>
          <a:prstGeom prst="rect">
            <a:avLst/>
          </a:prstGeom>
          <a:noFill/>
        </p:spPr>
        <p:txBody>
          <a:bodyPr wrap="square" lIns="0" rIns="0" tIns="0" bIns="0" anchor="t">
            <a:noAutofit/>
          </a:bodyPr>
          <a:lstStyle/>
          <a:p>
            <a:pPr algn="l">
              <a:lnSpc>
                <a:spcPct val="100000"/>
              </a:lnSpc>
            </a:pPr>
            <a:r>
              <a:rPr sz="2000" b="1" i="0">
                <a:solidFill>
                  <a:srgbClr val="FFFFFF"/>
                </a:solidFill>
                <a:latin typeface="Arial"/>
              </a:rPr>
              <a:t>full factorial</a:t>
            </a:r>
          </a:p>
        </p:txBody>
      </p:sp>
      <p:sp>
        <p:nvSpPr>
          <p:cNvPr id="17" name="Oval 16"/>
          <p:cNvSpPr/>
          <p:nvPr/>
        </p:nvSpPr>
        <p:spPr>
          <a:xfrm>
            <a:off x="6537960" y="3625596"/>
            <a:ext cx="82296" cy="82296"/>
          </a:xfrm>
          <a:prstGeom prst="ellipse">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0568" y="3520440"/>
            <a:ext cx="4187952" cy="438912"/>
          </a:xfrm>
          <a:prstGeom prst="rect">
            <a:avLst/>
          </a:prstGeom>
          <a:noFill/>
        </p:spPr>
        <p:txBody>
          <a:bodyPr wrap="square" lIns="0" rIns="0" tIns="0" bIns="0" anchor="t">
            <a:noAutofit/>
          </a:bodyPr>
          <a:lstStyle/>
          <a:p>
            <a:pPr algn="l">
              <a:lnSpc>
                <a:spcPct val="118000"/>
              </a:lnSpc>
            </a:pPr>
            <a:r>
              <a:rPr sz="1450" b="0" i="0">
                <a:solidFill>
                  <a:srgbClr val="B9C6D8"/>
                </a:solidFill>
                <a:latin typeface="Arial"/>
              </a:rPr>
              <a:t>every main effect, averaged over 4 pairs</a:t>
            </a:r>
          </a:p>
        </p:txBody>
      </p:sp>
      <p:sp>
        <p:nvSpPr>
          <p:cNvPr id="19" name="Oval 18"/>
          <p:cNvSpPr/>
          <p:nvPr/>
        </p:nvSpPr>
        <p:spPr>
          <a:xfrm>
            <a:off x="6537960" y="4082796"/>
            <a:ext cx="82296" cy="82296"/>
          </a:xfrm>
          <a:prstGeom prst="ellipse">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0568" y="3977639"/>
            <a:ext cx="4187952" cy="438912"/>
          </a:xfrm>
          <a:prstGeom prst="rect">
            <a:avLst/>
          </a:prstGeom>
          <a:noFill/>
        </p:spPr>
        <p:txBody>
          <a:bodyPr wrap="square" lIns="0" rIns="0" tIns="0" bIns="0" anchor="t">
            <a:noAutofit/>
          </a:bodyPr>
          <a:lstStyle/>
          <a:p>
            <a:pPr algn="l">
              <a:lnSpc>
                <a:spcPct val="118000"/>
              </a:lnSpc>
            </a:pPr>
            <a:r>
              <a:rPr sz="1450" b="0" i="0">
                <a:solidFill>
                  <a:srgbClr val="B9C6D8"/>
                </a:solidFill>
                <a:latin typeface="Arial"/>
              </a:rPr>
              <a:t>the additive prediction for C+L+D</a:t>
            </a:r>
          </a:p>
        </p:txBody>
      </p:sp>
      <p:sp>
        <p:nvSpPr>
          <p:cNvPr id="21" name="Oval 20"/>
          <p:cNvSpPr/>
          <p:nvPr/>
        </p:nvSpPr>
        <p:spPr>
          <a:xfrm>
            <a:off x="6537960" y="4539996"/>
            <a:ext cx="82296" cy="82296"/>
          </a:xfrm>
          <a:prstGeom prst="ellipse">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0568" y="4434840"/>
            <a:ext cx="4187952" cy="438912"/>
          </a:xfrm>
          <a:prstGeom prst="rect">
            <a:avLst/>
          </a:prstGeom>
          <a:noFill/>
        </p:spPr>
        <p:txBody>
          <a:bodyPr wrap="square" lIns="0" rIns="0" tIns="0" bIns="0" anchor="t">
            <a:noAutofit/>
          </a:bodyPr>
          <a:lstStyle/>
          <a:p>
            <a:pPr algn="l">
              <a:lnSpc>
                <a:spcPct val="118000"/>
              </a:lnSpc>
            </a:pPr>
            <a:r>
              <a:rPr sz="1450" b="0" i="0">
                <a:solidFill>
                  <a:srgbClr val="B9C6D8"/>
                </a:solidFill>
                <a:latin typeface="Arial"/>
              </a:rPr>
              <a:t>observed − predicted = the composition gap</a:t>
            </a:r>
          </a:p>
        </p:txBody>
      </p:sp>
      <p:sp>
        <p:nvSpPr>
          <p:cNvPr id="23" name="Oval 22"/>
          <p:cNvSpPr/>
          <p:nvPr/>
        </p:nvSpPr>
        <p:spPr>
          <a:xfrm>
            <a:off x="6537960" y="4997196"/>
            <a:ext cx="82296" cy="82296"/>
          </a:xfrm>
          <a:prstGeom prst="ellipse">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30568" y="4892040"/>
            <a:ext cx="4187952" cy="438912"/>
          </a:xfrm>
          <a:prstGeom prst="rect">
            <a:avLst/>
          </a:prstGeom>
          <a:noFill/>
        </p:spPr>
        <p:txBody>
          <a:bodyPr wrap="square" lIns="0" rIns="0" tIns="0" bIns="0" anchor="t">
            <a:noAutofit/>
          </a:bodyPr>
          <a:lstStyle/>
          <a:p>
            <a:pPr algn="l">
              <a:lnSpc>
                <a:spcPct val="118000"/>
              </a:lnSpc>
            </a:pPr>
            <a:r>
              <a:rPr sz="1450" b="0" i="0">
                <a:solidFill>
                  <a:srgbClr val="B9C6D8"/>
                </a:solidFill>
                <a:latin typeface="Arial"/>
              </a:rPr>
              <a:t>seed spread gives the noise floor</a:t>
            </a:r>
          </a:p>
        </p:txBody>
      </p:sp>
      <p:sp>
        <p:nvSpPr>
          <p:cNvPr id="25" name="TextBox 24"/>
          <p:cNvSpPr txBox="1"/>
          <p:nvPr/>
        </p:nvSpPr>
        <p:spPr>
          <a:xfrm>
            <a:off x="777240" y="5623560"/>
            <a:ext cx="10515600" cy="640080"/>
          </a:xfrm>
          <a:prstGeom prst="rect">
            <a:avLst/>
          </a:prstGeom>
          <a:noFill/>
        </p:spPr>
        <p:txBody>
          <a:bodyPr wrap="square" lIns="0" rIns="0" tIns="0" bIns="0" anchor="t">
            <a:noAutofit/>
          </a:bodyPr>
          <a:lstStyle/>
          <a:p>
            <a:pPr algn="ctr">
              <a:lnSpc>
                <a:spcPct val="100000"/>
              </a:lnSpc>
            </a:pPr>
            <a:r>
              <a:rPr sz="1700" b="1" i="0">
                <a:solidFill>
                  <a:srgbClr val="16202E"/>
                </a:solidFill>
                <a:latin typeface="Arial"/>
              </a:rPr>
              <a:t>Exactly double the cost. It buys the one quantity no cheaper design can produce.</a:t>
            </a:r>
          </a:p>
        </p:txBody>
      </p:sp>
      <p:sp>
        <p:nvSpPr>
          <p:cNvPr id="26" name="TextBox 25"/>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Design</a:t>
            </a:r>
          </a:p>
        </p:txBody>
      </p:sp>
      <p:sp>
        <p:nvSpPr>
          <p:cNvPr id="27" name="TextBox 26"/>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SETUP</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600" b="1" i="0">
                <a:solidFill>
                  <a:srgbClr val="16202E"/>
                </a:solidFill>
                <a:latin typeface="Arial"/>
              </a:rPr>
              <a:t>The bench — small enough to run 48 times</a:t>
            </a:r>
          </a:p>
        </p:txBody>
      </p:sp>
      <p:sp>
        <p:nvSpPr>
          <p:cNvPr id="5" name="TextBox 4"/>
          <p:cNvSpPr txBox="1"/>
          <p:nvPr/>
        </p:nvSpPr>
        <p:spPr>
          <a:xfrm>
            <a:off x="777240" y="2011680"/>
            <a:ext cx="1920240" cy="365760"/>
          </a:xfrm>
          <a:prstGeom prst="rect">
            <a:avLst/>
          </a:prstGeom>
          <a:noFill/>
        </p:spPr>
        <p:txBody>
          <a:bodyPr wrap="square" lIns="0" rIns="0" tIns="0" bIns="0" anchor="t">
            <a:noAutofit/>
          </a:bodyPr>
          <a:lstStyle/>
          <a:p>
            <a:pPr algn="l">
              <a:lnSpc>
                <a:spcPct val="100000"/>
              </a:lnSpc>
            </a:pPr>
            <a:r>
              <a:rPr sz="1450" b="1" i="0">
                <a:solidFill>
                  <a:srgbClr val="16202E"/>
                </a:solidFill>
                <a:latin typeface="Arial"/>
              </a:rPr>
              <a:t>Student</a:t>
            </a:r>
          </a:p>
        </p:txBody>
      </p:sp>
      <p:sp>
        <p:nvSpPr>
          <p:cNvPr id="6" name="TextBox 5"/>
          <p:cNvSpPr txBox="1"/>
          <p:nvPr/>
        </p:nvSpPr>
        <p:spPr>
          <a:xfrm>
            <a:off x="2834640" y="2011680"/>
            <a:ext cx="5577840" cy="566928"/>
          </a:xfrm>
          <a:prstGeom prst="rect">
            <a:avLst/>
          </a:prstGeom>
          <a:noFill/>
        </p:spPr>
        <p:txBody>
          <a:bodyPr wrap="square" lIns="0" rIns="0" tIns="0" bIns="0" anchor="t">
            <a:noAutofit/>
          </a:bodyPr>
          <a:lstStyle/>
          <a:p>
            <a:pPr algn="l">
              <a:lnSpc>
                <a:spcPct val="120000"/>
              </a:lnSpc>
            </a:pPr>
            <a:r>
              <a:rPr sz="1500" b="0" i="0">
                <a:solidFill>
                  <a:srgbClr val="334155"/>
                </a:solidFill>
                <a:latin typeface="Arial"/>
              </a:rPr>
              <a:t>2-layer Transformer, d_model 64 — 82K parameters, character-level</a:t>
            </a:r>
          </a:p>
        </p:txBody>
      </p:sp>
      <p:sp>
        <p:nvSpPr>
          <p:cNvPr id="7" name="Rectangle 6"/>
          <p:cNvSpPr/>
          <p:nvPr/>
        </p:nvSpPr>
        <p:spPr>
          <a:xfrm>
            <a:off x="777240" y="2615184"/>
            <a:ext cx="7635240" cy="18288"/>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61488"/>
            <a:ext cx="1920240" cy="365760"/>
          </a:xfrm>
          <a:prstGeom prst="rect">
            <a:avLst/>
          </a:prstGeom>
          <a:noFill/>
        </p:spPr>
        <p:txBody>
          <a:bodyPr wrap="square" lIns="0" rIns="0" tIns="0" bIns="0" anchor="t">
            <a:noAutofit/>
          </a:bodyPr>
          <a:lstStyle/>
          <a:p>
            <a:pPr algn="l">
              <a:lnSpc>
                <a:spcPct val="100000"/>
              </a:lnSpc>
            </a:pPr>
            <a:r>
              <a:rPr sz="1450" b="1" i="0">
                <a:solidFill>
                  <a:srgbClr val="16202E"/>
                </a:solidFill>
                <a:latin typeface="Arial"/>
              </a:rPr>
              <a:t>Teacher</a:t>
            </a:r>
          </a:p>
        </p:txBody>
      </p:sp>
      <p:sp>
        <p:nvSpPr>
          <p:cNvPr id="9" name="TextBox 8"/>
          <p:cNvSpPr txBox="1"/>
          <p:nvPr/>
        </p:nvSpPr>
        <p:spPr>
          <a:xfrm>
            <a:off x="2834640" y="2761488"/>
            <a:ext cx="5577840" cy="566928"/>
          </a:xfrm>
          <a:prstGeom prst="rect">
            <a:avLst/>
          </a:prstGeom>
          <a:noFill/>
        </p:spPr>
        <p:txBody>
          <a:bodyPr wrap="square" lIns="0" rIns="0" tIns="0" bIns="0" anchor="t">
            <a:noAutofit/>
          </a:bodyPr>
          <a:lstStyle/>
          <a:p>
            <a:pPr algn="l">
              <a:lnSpc>
                <a:spcPct val="120000"/>
              </a:lnSpc>
            </a:pPr>
            <a:r>
              <a:rPr sz="1500" b="0" i="0">
                <a:solidFill>
                  <a:srgbClr val="334155"/>
                </a:solidFill>
                <a:latin typeface="Arial"/>
              </a:rPr>
              <a:t>4-layer, 561K parameters — trained from scratch on the same data, then frozen. Not a pretrained model.</a:t>
            </a:r>
          </a:p>
        </p:txBody>
      </p:sp>
      <p:sp>
        <p:nvSpPr>
          <p:cNvPr id="10" name="Rectangle 9"/>
          <p:cNvSpPr/>
          <p:nvPr/>
        </p:nvSpPr>
        <p:spPr>
          <a:xfrm>
            <a:off x="777240" y="3364992"/>
            <a:ext cx="7635240" cy="18288"/>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511296"/>
            <a:ext cx="1920240" cy="365760"/>
          </a:xfrm>
          <a:prstGeom prst="rect">
            <a:avLst/>
          </a:prstGeom>
          <a:noFill/>
        </p:spPr>
        <p:txBody>
          <a:bodyPr wrap="square" lIns="0" rIns="0" tIns="0" bIns="0" anchor="t">
            <a:noAutofit/>
          </a:bodyPr>
          <a:lstStyle/>
          <a:p>
            <a:pPr algn="l">
              <a:lnSpc>
                <a:spcPct val="100000"/>
              </a:lnSpc>
            </a:pPr>
            <a:r>
              <a:rPr sz="1450" b="1" i="0">
                <a:solidFill>
                  <a:srgbClr val="16202E"/>
                </a:solidFill>
                <a:latin typeface="Arial"/>
              </a:rPr>
              <a:t>Budget</a:t>
            </a:r>
          </a:p>
        </p:txBody>
      </p:sp>
      <p:sp>
        <p:nvSpPr>
          <p:cNvPr id="12" name="TextBox 11"/>
          <p:cNvSpPr txBox="1"/>
          <p:nvPr/>
        </p:nvSpPr>
        <p:spPr>
          <a:xfrm>
            <a:off x="2834640" y="3511296"/>
            <a:ext cx="5577840" cy="566928"/>
          </a:xfrm>
          <a:prstGeom prst="rect">
            <a:avLst/>
          </a:prstGeom>
          <a:noFill/>
        </p:spPr>
        <p:txBody>
          <a:bodyPr wrap="square" lIns="0" rIns="0" tIns="0" bIns="0" anchor="t">
            <a:noAutofit/>
          </a:bodyPr>
          <a:lstStyle/>
          <a:p>
            <a:pPr algn="l">
              <a:lnSpc>
                <a:spcPct val="120000"/>
              </a:lnSpc>
            </a:pPr>
            <a:r>
              <a:rPr sz="1500" b="0" i="0">
                <a:solidFill>
                  <a:srgbClr val="334155"/>
                </a:solidFill>
                <a:latin typeface="Arial"/>
              </a:rPr>
              <a:t>300 steps, LR 4e-3, batch 32, evaluated every 15 steps</a:t>
            </a:r>
          </a:p>
        </p:txBody>
      </p:sp>
      <p:sp>
        <p:nvSpPr>
          <p:cNvPr id="13" name="Rectangle 12"/>
          <p:cNvSpPr/>
          <p:nvPr/>
        </p:nvSpPr>
        <p:spPr>
          <a:xfrm>
            <a:off x="777240" y="4114800"/>
            <a:ext cx="7635240" cy="18288"/>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61104"/>
            <a:ext cx="1920240" cy="365760"/>
          </a:xfrm>
          <a:prstGeom prst="rect">
            <a:avLst/>
          </a:prstGeom>
          <a:noFill/>
        </p:spPr>
        <p:txBody>
          <a:bodyPr wrap="square" lIns="0" rIns="0" tIns="0" bIns="0" anchor="t">
            <a:noAutofit/>
          </a:bodyPr>
          <a:lstStyle/>
          <a:p>
            <a:pPr algn="l">
              <a:lnSpc>
                <a:spcPct val="100000"/>
              </a:lnSpc>
            </a:pPr>
            <a:r>
              <a:rPr sz="1450" b="1" i="0">
                <a:solidFill>
                  <a:srgbClr val="E08A2E"/>
                </a:solidFill>
                <a:latin typeface="Arial"/>
              </a:rPr>
              <a:t>Benchmark A</a:t>
            </a:r>
          </a:p>
        </p:txBody>
      </p:sp>
      <p:sp>
        <p:nvSpPr>
          <p:cNvPr id="15" name="TextBox 14"/>
          <p:cNvSpPr txBox="1"/>
          <p:nvPr/>
        </p:nvSpPr>
        <p:spPr>
          <a:xfrm>
            <a:off x="2834640" y="4261104"/>
            <a:ext cx="5577840" cy="566928"/>
          </a:xfrm>
          <a:prstGeom prst="rect">
            <a:avLst/>
          </a:prstGeom>
          <a:noFill/>
        </p:spPr>
        <p:txBody>
          <a:bodyPr wrap="square" lIns="0" rIns="0" tIns="0" bIns="0" anchor="t">
            <a:noAutofit/>
          </a:bodyPr>
          <a:lstStyle/>
          <a:p>
            <a:pPr algn="l">
              <a:lnSpc>
                <a:spcPct val="120000"/>
              </a:lnSpc>
            </a:pPr>
            <a:r>
              <a:rPr sz="1500" b="0" i="0">
                <a:solidFill>
                  <a:srgbClr val="334155"/>
                </a:solidFill>
                <a:latin typeface="Arial"/>
              </a:rPr>
              <a:t>Synthetic SC-LM — difficulty is known by construction, noise-free</a:t>
            </a:r>
          </a:p>
        </p:txBody>
      </p:sp>
      <p:sp>
        <p:nvSpPr>
          <p:cNvPr id="16" name="Rectangle 15"/>
          <p:cNvSpPr/>
          <p:nvPr/>
        </p:nvSpPr>
        <p:spPr>
          <a:xfrm>
            <a:off x="777240" y="4864608"/>
            <a:ext cx="7635240" cy="18288"/>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010912"/>
            <a:ext cx="1920240" cy="365760"/>
          </a:xfrm>
          <a:prstGeom prst="rect">
            <a:avLst/>
          </a:prstGeom>
          <a:noFill/>
        </p:spPr>
        <p:txBody>
          <a:bodyPr wrap="square" lIns="0" rIns="0" tIns="0" bIns="0" anchor="t">
            <a:noAutofit/>
          </a:bodyPr>
          <a:lstStyle/>
          <a:p>
            <a:pPr algn="l">
              <a:lnSpc>
                <a:spcPct val="100000"/>
              </a:lnSpc>
            </a:pPr>
            <a:r>
              <a:rPr sz="1450" b="1" i="0">
                <a:solidFill>
                  <a:srgbClr val="E08A2E"/>
                </a:solidFill>
                <a:latin typeface="Arial"/>
              </a:rPr>
              <a:t>Benchmark B</a:t>
            </a:r>
          </a:p>
        </p:txBody>
      </p:sp>
      <p:sp>
        <p:nvSpPr>
          <p:cNvPr id="18" name="TextBox 17"/>
          <p:cNvSpPr txBox="1"/>
          <p:nvPr/>
        </p:nvSpPr>
        <p:spPr>
          <a:xfrm>
            <a:off x="2834640" y="5010912"/>
            <a:ext cx="5577840" cy="566928"/>
          </a:xfrm>
          <a:prstGeom prst="rect">
            <a:avLst/>
          </a:prstGeom>
          <a:noFill/>
        </p:spPr>
        <p:txBody>
          <a:bodyPr wrap="square" lIns="0" rIns="0" tIns="0" bIns="0" anchor="t">
            <a:noAutofit/>
          </a:bodyPr>
          <a:lstStyle/>
          <a:p>
            <a:pPr algn="l">
              <a:lnSpc>
                <a:spcPct val="120000"/>
              </a:lnSpc>
            </a:pPr>
            <a:r>
              <a:rPr sz="1500" b="0" i="0">
                <a:solidFill>
                  <a:srgbClr val="334155"/>
                </a:solidFill>
                <a:latin typeface="Arial"/>
              </a:rPr>
              <a:t>Tiny Shakespeare — difficulty comes from the corpus, not from me</a:t>
            </a:r>
          </a:p>
        </p:txBody>
      </p:sp>
      <p:sp>
        <p:nvSpPr>
          <p:cNvPr id="19" name="Rectangle 18"/>
          <p:cNvSpPr/>
          <p:nvPr/>
        </p:nvSpPr>
        <p:spPr>
          <a:xfrm>
            <a:off x="777240" y="5614416"/>
            <a:ext cx="7635240" cy="18288"/>
          </a:xfrm>
          <a:prstGeom prst="rect">
            <a:avLst/>
          </a:prstGeom>
          <a:solidFill>
            <a:srgbClr val="DC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69680" y="2057400"/>
            <a:ext cx="2423160" cy="329184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2377440"/>
            <a:ext cx="1920240" cy="2651760"/>
          </a:xfrm>
          <a:prstGeom prst="rect">
            <a:avLst/>
          </a:prstGeom>
          <a:noFill/>
        </p:spPr>
        <p:txBody>
          <a:bodyPr wrap="square" lIns="0" rIns="0" tIns="0" bIns="0" anchor="t">
            <a:noAutofit/>
          </a:bodyPr>
          <a:lstStyle/>
          <a:p>
            <a:pPr algn="l">
              <a:lnSpc>
                <a:spcPct val="120000"/>
              </a:lnSpc>
            </a:pPr>
            <a:r>
              <a:rPr sz="3400" b="1" i="0">
                <a:solidFill>
                  <a:srgbClr val="FFFFFF"/>
                </a:solidFill>
                <a:latin typeface="Arial"/>
              </a:rPr>
              <a:t>35–45</a:t>
            </a:r>
          </a:p>
          <a:p>
            <a:pPr algn="l">
              <a:lnSpc>
                <a:spcPct val="120000"/>
              </a:lnSpc>
            </a:pPr>
            <a:r>
              <a:rPr sz="1250" b="0" i="0">
                <a:solidFill>
                  <a:srgbClr val="8FA0B6"/>
                </a:solidFill>
                <a:latin typeface="Arial"/>
              </a:rPr>
              <a:t>minutes, one CPU core</a:t>
            </a:r>
          </a:p>
          <a:p>
            <a:pPr algn="l">
              <a:lnSpc>
                <a:spcPct val="120000"/>
              </a:lnSpc>
            </a:pPr>
            <a:r>
              <a:rPr sz="800" b="0" i="0">
                <a:solidFill>
                  <a:srgbClr val="16202E"/>
                </a:solidFill>
                <a:latin typeface="Arial"/>
              </a:rPr>
              <a:t> </a:t>
            </a:r>
          </a:p>
          <a:p>
            <a:pPr algn="l">
              <a:lnSpc>
                <a:spcPct val="120000"/>
              </a:lnSpc>
            </a:pPr>
            <a:r>
              <a:rPr sz="3400" b="1" i="0">
                <a:solidFill>
                  <a:srgbClr val="F0B429"/>
                </a:solidFill>
                <a:latin typeface="Arial"/>
              </a:rPr>
              <a:t>0</a:t>
            </a:r>
          </a:p>
          <a:p>
            <a:pPr algn="l">
              <a:lnSpc>
                <a:spcPct val="120000"/>
              </a:lnSpc>
            </a:pPr>
            <a:r>
              <a:rPr sz="1250" b="0" i="0">
                <a:solidFill>
                  <a:srgbClr val="8FA0B6"/>
                </a:solidFill>
                <a:latin typeface="Arial"/>
              </a:rPr>
              <a:t>GPUs. No Hugging Face. LoRA written from scratch in ~20 lines.</a:t>
            </a:r>
          </a:p>
        </p:txBody>
      </p:sp>
      <p:sp>
        <p:nvSpPr>
          <p:cNvPr id="22" name="TextBox 21"/>
          <p:cNvSpPr txBox="1"/>
          <p:nvPr/>
        </p:nvSpPr>
        <p:spPr>
          <a:xfrm>
            <a:off x="777240" y="5852160"/>
            <a:ext cx="10515600" cy="457200"/>
          </a:xfrm>
          <a:prstGeom prst="rect">
            <a:avLst/>
          </a:prstGeom>
          <a:noFill/>
        </p:spPr>
        <p:txBody>
          <a:bodyPr wrap="square" lIns="0" rIns="0" tIns="0" bIns="0" anchor="t">
            <a:noAutofit/>
          </a:bodyPr>
          <a:lstStyle/>
          <a:p>
            <a:pPr algn="l">
              <a:lnSpc>
                <a:spcPct val="100000"/>
              </a:lnSpc>
            </a:pPr>
            <a:r>
              <a:rPr sz="1550" b="1" i="0">
                <a:solidFill>
                  <a:srgbClr val="708196"/>
                </a:solidFill>
                <a:latin typeface="Arial"/>
              </a:rPr>
              <a:t>Anyone in this room can reproduce all 48 runs on the laptop they brought.</a:t>
            </a:r>
          </a:p>
        </p:txBody>
      </p:sp>
      <p:sp>
        <p:nvSpPr>
          <p:cNvPr id="23" name="TextBox 22"/>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Setup</a:t>
            </a:r>
          </a:p>
        </p:txBody>
      </p:sp>
      <p:sp>
        <p:nvSpPr>
          <p:cNvPr id="24" name="TextBox 23"/>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F0B429"/>
                </a:solidFill>
                <a:latin typeface="Arial"/>
              </a:rPr>
              <a:t>BEFORE MEASURING ANYTHING</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600" b="1" i="0">
                <a:solidFill>
                  <a:srgbClr val="FFFFFF"/>
                </a:solidFill>
                <a:latin typeface="Arial"/>
              </a:rPr>
              <a:t>Five checks before a single training step</a:t>
            </a:r>
          </a:p>
        </p:txBody>
      </p:sp>
      <p:sp>
        <p:nvSpPr>
          <p:cNvPr id="5" name="Rounded Rectangle 4"/>
          <p:cNvSpPr/>
          <p:nvPr/>
        </p:nvSpPr>
        <p:spPr>
          <a:xfrm>
            <a:off x="777240" y="2103120"/>
            <a:ext cx="384048" cy="384048"/>
          </a:xfrm>
          <a:prstGeom prst="roundRect">
            <a:avLst>
              <a:gd name="adj" fmla="val 35000"/>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03120"/>
            <a:ext cx="384048" cy="384048"/>
          </a:xfrm>
          <a:prstGeom prst="rect">
            <a:avLst/>
          </a:prstGeom>
          <a:noFill/>
        </p:spPr>
        <p:txBody>
          <a:bodyPr wrap="square" lIns="0" rIns="0" tIns="0" bIns="0" anchor="ctr">
            <a:noAutofit/>
          </a:bodyPr>
          <a:lstStyle/>
          <a:p>
            <a:pPr algn="ctr">
              <a:lnSpc>
                <a:spcPct val="100000"/>
              </a:lnSpc>
            </a:pPr>
            <a:r>
              <a:rPr sz="1400" b="1" i="0">
                <a:solidFill>
                  <a:srgbClr val="0F1B2D"/>
                </a:solidFill>
                <a:latin typeface="Arial"/>
              </a:rPr>
              <a:t>1</a:t>
            </a:r>
          </a:p>
        </p:txBody>
      </p:sp>
      <p:sp>
        <p:nvSpPr>
          <p:cNvPr id="7" name="TextBox 6"/>
          <p:cNvSpPr txBox="1"/>
          <p:nvPr/>
        </p:nvSpPr>
        <p:spPr>
          <a:xfrm>
            <a:off x="1353312" y="2121408"/>
            <a:ext cx="6035040" cy="384048"/>
          </a:xfrm>
          <a:prstGeom prst="rect">
            <a:avLst/>
          </a:prstGeom>
          <a:noFill/>
        </p:spPr>
        <p:txBody>
          <a:bodyPr wrap="square" lIns="0" rIns="0" tIns="0" bIns="0" anchor="ctr">
            <a:noAutofit/>
          </a:bodyPr>
          <a:lstStyle/>
          <a:p>
            <a:pPr algn="l">
              <a:lnSpc>
                <a:spcPct val="100000"/>
              </a:lnSpc>
            </a:pPr>
            <a:r>
              <a:rPr sz="1550" b="0" i="0">
                <a:solidFill>
                  <a:srgbClr val="D6DFEA"/>
                </a:solidFill>
                <a:latin typeface="Arial"/>
              </a:rPr>
              <a:t>gradients actually reach every LoRA adapter</a:t>
            </a:r>
          </a:p>
        </p:txBody>
      </p:sp>
      <p:sp>
        <p:nvSpPr>
          <p:cNvPr id="8" name="Rounded Rectangle 7"/>
          <p:cNvSpPr/>
          <p:nvPr/>
        </p:nvSpPr>
        <p:spPr>
          <a:xfrm>
            <a:off x="777240" y="2651760"/>
            <a:ext cx="384048" cy="384048"/>
          </a:xfrm>
          <a:prstGeom prst="roundRect">
            <a:avLst>
              <a:gd name="adj" fmla="val 35000"/>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51760"/>
            <a:ext cx="384048" cy="384048"/>
          </a:xfrm>
          <a:prstGeom prst="rect">
            <a:avLst/>
          </a:prstGeom>
          <a:noFill/>
        </p:spPr>
        <p:txBody>
          <a:bodyPr wrap="square" lIns="0" rIns="0" tIns="0" bIns="0" anchor="ctr">
            <a:noAutofit/>
          </a:bodyPr>
          <a:lstStyle/>
          <a:p>
            <a:pPr algn="ctr">
              <a:lnSpc>
                <a:spcPct val="100000"/>
              </a:lnSpc>
            </a:pPr>
            <a:r>
              <a:rPr sz="1400" b="1" i="0">
                <a:solidFill>
                  <a:srgbClr val="0F1B2D"/>
                </a:solidFill>
                <a:latin typeface="Arial"/>
              </a:rPr>
              <a:t>2</a:t>
            </a:r>
          </a:p>
        </p:txBody>
      </p:sp>
      <p:sp>
        <p:nvSpPr>
          <p:cNvPr id="10" name="TextBox 9"/>
          <p:cNvSpPr txBox="1"/>
          <p:nvPr/>
        </p:nvSpPr>
        <p:spPr>
          <a:xfrm>
            <a:off x="1353312" y="2670048"/>
            <a:ext cx="6035040" cy="384048"/>
          </a:xfrm>
          <a:prstGeom prst="rect">
            <a:avLst/>
          </a:prstGeom>
          <a:noFill/>
        </p:spPr>
        <p:txBody>
          <a:bodyPr wrap="square" lIns="0" rIns="0" tIns="0" bIns="0" anchor="ctr">
            <a:noAutofit/>
          </a:bodyPr>
          <a:lstStyle/>
          <a:p>
            <a:pPr algn="l">
              <a:lnSpc>
                <a:spcPct val="100000"/>
              </a:lnSpc>
            </a:pPr>
            <a:r>
              <a:rPr sz="1550" b="0" i="0">
                <a:solidFill>
                  <a:srgbClr val="D6DFEA"/>
                </a:solidFill>
                <a:latin typeface="Arial"/>
              </a:rPr>
              <a:t>adapters sit on the real projections, not on copies</a:t>
            </a:r>
          </a:p>
        </p:txBody>
      </p:sp>
      <p:sp>
        <p:nvSpPr>
          <p:cNvPr id="11" name="Rounded Rectangle 10"/>
          <p:cNvSpPr/>
          <p:nvPr/>
        </p:nvSpPr>
        <p:spPr>
          <a:xfrm>
            <a:off x="777240" y="3200400"/>
            <a:ext cx="384048" cy="384048"/>
          </a:xfrm>
          <a:prstGeom prst="roundRect">
            <a:avLst>
              <a:gd name="adj" fmla="val 35000"/>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200400"/>
            <a:ext cx="384048" cy="384048"/>
          </a:xfrm>
          <a:prstGeom prst="rect">
            <a:avLst/>
          </a:prstGeom>
          <a:noFill/>
        </p:spPr>
        <p:txBody>
          <a:bodyPr wrap="square" lIns="0" rIns="0" tIns="0" bIns="0" anchor="ctr">
            <a:noAutofit/>
          </a:bodyPr>
          <a:lstStyle/>
          <a:p>
            <a:pPr algn="ctr">
              <a:lnSpc>
                <a:spcPct val="100000"/>
              </a:lnSpc>
            </a:pPr>
            <a:r>
              <a:rPr sz="1400" b="1" i="0">
                <a:solidFill>
                  <a:srgbClr val="0F1B2D"/>
                </a:solidFill>
                <a:latin typeface="Arial"/>
              </a:rPr>
              <a:t>3</a:t>
            </a:r>
          </a:p>
        </p:txBody>
      </p:sp>
      <p:sp>
        <p:nvSpPr>
          <p:cNvPr id="13" name="TextBox 12"/>
          <p:cNvSpPr txBox="1"/>
          <p:nvPr/>
        </p:nvSpPr>
        <p:spPr>
          <a:xfrm>
            <a:off x="1353312" y="3218688"/>
            <a:ext cx="6035040" cy="384048"/>
          </a:xfrm>
          <a:prstGeom prst="rect">
            <a:avLst/>
          </a:prstGeom>
          <a:noFill/>
        </p:spPr>
        <p:txBody>
          <a:bodyPr wrap="square" lIns="0" rIns="0" tIns="0" bIns="0" anchor="ctr">
            <a:noAutofit/>
          </a:bodyPr>
          <a:lstStyle/>
          <a:p>
            <a:pPr algn="l">
              <a:lnSpc>
                <a:spcPct val="100000"/>
              </a:lnSpc>
            </a:pPr>
            <a:r>
              <a:rPr sz="1550" b="0" i="0">
                <a:solidFill>
                  <a:srgbClr val="D6DFEA"/>
                </a:solidFill>
                <a:latin typeface="Arial"/>
              </a:rPr>
              <a:t>base weights are genuinely frozen</a:t>
            </a:r>
          </a:p>
        </p:txBody>
      </p:sp>
      <p:sp>
        <p:nvSpPr>
          <p:cNvPr id="14" name="Rounded Rectangle 13"/>
          <p:cNvSpPr/>
          <p:nvPr/>
        </p:nvSpPr>
        <p:spPr>
          <a:xfrm>
            <a:off x="777240" y="3749039"/>
            <a:ext cx="384048" cy="384048"/>
          </a:xfrm>
          <a:prstGeom prst="roundRect">
            <a:avLst>
              <a:gd name="adj" fmla="val 35000"/>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749039"/>
            <a:ext cx="384048" cy="384048"/>
          </a:xfrm>
          <a:prstGeom prst="rect">
            <a:avLst/>
          </a:prstGeom>
          <a:noFill/>
        </p:spPr>
        <p:txBody>
          <a:bodyPr wrap="square" lIns="0" rIns="0" tIns="0" bIns="0" anchor="ctr">
            <a:noAutofit/>
          </a:bodyPr>
          <a:lstStyle/>
          <a:p>
            <a:pPr algn="ctr">
              <a:lnSpc>
                <a:spcPct val="100000"/>
              </a:lnSpc>
            </a:pPr>
            <a:r>
              <a:rPr sz="1400" b="1" i="0">
                <a:solidFill>
                  <a:srgbClr val="0F1B2D"/>
                </a:solidFill>
                <a:latin typeface="Arial"/>
              </a:rPr>
              <a:t>4</a:t>
            </a:r>
          </a:p>
        </p:txBody>
      </p:sp>
      <p:sp>
        <p:nvSpPr>
          <p:cNvPr id="16" name="TextBox 15"/>
          <p:cNvSpPr txBox="1"/>
          <p:nvPr/>
        </p:nvSpPr>
        <p:spPr>
          <a:xfrm>
            <a:off x="1353312" y="3767327"/>
            <a:ext cx="6035040" cy="384048"/>
          </a:xfrm>
          <a:prstGeom prst="rect">
            <a:avLst/>
          </a:prstGeom>
          <a:noFill/>
        </p:spPr>
        <p:txBody>
          <a:bodyPr wrap="square" lIns="0" rIns="0" tIns="0" bIns="0" anchor="ctr">
            <a:noAutofit/>
          </a:bodyPr>
          <a:lstStyle/>
          <a:p>
            <a:pPr algn="l">
              <a:lnSpc>
                <a:spcPct val="100000"/>
              </a:lnSpc>
            </a:pPr>
            <a:r>
              <a:rPr sz="1550" b="0" i="0">
                <a:solidFill>
                  <a:srgbClr val="D6DFEA"/>
                </a:solidFill>
                <a:latin typeface="Arial"/>
              </a:rPr>
              <a:t>LoRA is a perfect no-op at initialisation</a:t>
            </a:r>
          </a:p>
        </p:txBody>
      </p:sp>
      <p:sp>
        <p:nvSpPr>
          <p:cNvPr id="17" name="Rounded Rectangle 16"/>
          <p:cNvSpPr/>
          <p:nvPr/>
        </p:nvSpPr>
        <p:spPr>
          <a:xfrm>
            <a:off x="777240" y="4297679"/>
            <a:ext cx="384048" cy="384048"/>
          </a:xfrm>
          <a:prstGeom prst="roundRect">
            <a:avLst>
              <a:gd name="adj" fmla="val 35000"/>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297679"/>
            <a:ext cx="384048" cy="384048"/>
          </a:xfrm>
          <a:prstGeom prst="rect">
            <a:avLst/>
          </a:prstGeom>
          <a:noFill/>
        </p:spPr>
        <p:txBody>
          <a:bodyPr wrap="square" lIns="0" rIns="0" tIns="0" bIns="0" anchor="ctr">
            <a:noAutofit/>
          </a:bodyPr>
          <a:lstStyle/>
          <a:p>
            <a:pPr algn="ctr">
              <a:lnSpc>
                <a:spcPct val="100000"/>
              </a:lnSpc>
            </a:pPr>
            <a:r>
              <a:rPr sz="1400" b="1" i="0">
                <a:solidFill>
                  <a:srgbClr val="0F1B2D"/>
                </a:solidFill>
                <a:latin typeface="Arial"/>
              </a:rPr>
              <a:t>5</a:t>
            </a:r>
          </a:p>
        </p:txBody>
      </p:sp>
      <p:sp>
        <p:nvSpPr>
          <p:cNvPr id="19" name="TextBox 18"/>
          <p:cNvSpPr txBox="1"/>
          <p:nvPr/>
        </p:nvSpPr>
        <p:spPr>
          <a:xfrm>
            <a:off x="1353312" y="4315967"/>
            <a:ext cx="6035040" cy="384048"/>
          </a:xfrm>
          <a:prstGeom prst="rect">
            <a:avLst/>
          </a:prstGeom>
          <a:noFill/>
        </p:spPr>
        <p:txBody>
          <a:bodyPr wrap="square" lIns="0" rIns="0" tIns="0" bIns="0" anchor="ctr">
            <a:noAutofit/>
          </a:bodyPr>
          <a:lstStyle/>
          <a:p>
            <a:pPr algn="l">
              <a:lnSpc>
                <a:spcPct val="100000"/>
              </a:lnSpc>
            </a:pPr>
            <a:r>
              <a:rPr sz="1550" b="0" i="0">
                <a:solidFill>
                  <a:srgbClr val="D6DFEA"/>
                </a:solidFill>
                <a:latin typeface="Arial"/>
              </a:rPr>
              <a:t>the curriculum really does reorder the data</a:t>
            </a:r>
          </a:p>
        </p:txBody>
      </p:sp>
      <p:sp>
        <p:nvSpPr>
          <p:cNvPr id="20" name="Rectangle 19"/>
          <p:cNvSpPr/>
          <p:nvPr/>
        </p:nvSpPr>
        <p:spPr>
          <a:xfrm>
            <a:off x="7772400" y="2103120"/>
            <a:ext cx="3611880" cy="3931920"/>
          </a:xfrm>
          <a:prstGeom prst="rect">
            <a:avLst/>
          </a:prstGeom>
          <a:solidFill>
            <a:srgbClr val="1B2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2395728"/>
            <a:ext cx="2971800" cy="2560320"/>
          </a:xfrm>
          <a:prstGeom prst="rect">
            <a:avLst/>
          </a:prstGeom>
          <a:noFill/>
        </p:spPr>
        <p:txBody>
          <a:bodyPr wrap="square" lIns="0" rIns="0" tIns="0" bIns="0" anchor="t">
            <a:noAutofit/>
          </a:bodyPr>
          <a:lstStyle/>
          <a:p>
            <a:pPr algn="l">
              <a:lnSpc>
                <a:spcPct val="125000"/>
              </a:lnSpc>
            </a:pPr>
            <a:r>
              <a:rPr sz="1700" b="1" i="0">
                <a:solidFill>
                  <a:srgbClr val="F0B429"/>
                </a:solidFill>
                <a:latin typeface="Arial"/>
              </a:rPr>
              <a:t>Check 2 caught a silent aliasing bug.</a:t>
            </a:r>
          </a:p>
          <a:p>
            <a:pPr algn="l">
              <a:lnSpc>
                <a:spcPct val="125000"/>
              </a:lnSpc>
            </a:pPr>
            <a:r>
              <a:rPr sz="700" b="0" i="0">
                <a:solidFill>
                  <a:srgbClr val="F1F5F9"/>
                </a:solidFill>
                <a:latin typeface="Arial"/>
              </a:rPr>
              <a:t> </a:t>
            </a:r>
          </a:p>
          <a:p>
            <a:pPr algn="l">
              <a:lnSpc>
                <a:spcPct val="125000"/>
              </a:lnSpc>
            </a:pPr>
            <a:r>
              <a:rPr sz="1350" b="0" i="0">
                <a:solidFill>
                  <a:srgbClr val="B9C6D8"/>
                </a:solidFill>
                <a:latin typeface="Arial"/>
              </a:rPr>
              <a:t>The adapters existed, the parameter count looked right, the loss curves looked beautiful — and no gradient was flowing.</a:t>
            </a:r>
          </a:p>
          <a:p>
            <a:pPr algn="l">
              <a:lnSpc>
                <a:spcPct val="125000"/>
              </a:lnSpc>
            </a:pPr>
            <a:r>
              <a:rPr sz="700" b="0" i="0">
                <a:solidFill>
                  <a:srgbClr val="F1F5F9"/>
                </a:solidFill>
                <a:latin typeface="Arial"/>
              </a:rPr>
              <a:t> </a:t>
            </a:r>
          </a:p>
          <a:p>
            <a:pPr algn="l">
              <a:lnSpc>
                <a:spcPct val="125000"/>
              </a:lnSpc>
            </a:pPr>
            <a:r>
              <a:rPr sz="1350" b="1" i="0">
                <a:solidFill>
                  <a:srgbClr val="FFFFFF"/>
                </a:solidFill>
                <a:latin typeface="Arial"/>
              </a:rPr>
              <a:t>Those results were fiction. If I had not written verify.py I would be defending them today.</a:t>
            </a:r>
          </a:p>
        </p:txBody>
      </p:sp>
      <p:sp>
        <p:nvSpPr>
          <p:cNvPr id="22" name="TextBox 21"/>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53627A"/>
                </a:solidFill>
                <a:latin typeface="Arial"/>
              </a:rPr>
              <a:t>Setup</a:t>
            </a:r>
          </a:p>
        </p:txBody>
      </p:sp>
      <p:sp>
        <p:nvSpPr>
          <p:cNvPr id="23" name="TextBox 22"/>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53627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RESULT 1 — ALL EIGHT CELLS</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600" b="1" i="0">
                <a:solidFill>
                  <a:srgbClr val="16202E"/>
                </a:solidFill>
                <a:latin typeface="Arial"/>
              </a:rPr>
              <a:t>The full method is not at the bottom</a:t>
            </a:r>
          </a:p>
        </p:txBody>
      </p:sp>
      <p:pic>
        <p:nvPicPr>
          <p:cNvPr id="5" name="Picture 4" descr="fig2_factorial.png"/>
          <p:cNvPicPr>
            <a:picLocks noChangeAspect="1"/>
          </p:cNvPicPr>
          <p:nvPr/>
        </p:nvPicPr>
        <p:blipFill>
          <a:blip r:embed="rId2"/>
          <a:stretch>
            <a:fillRect/>
          </a:stretch>
        </p:blipFill>
        <p:spPr>
          <a:xfrm>
            <a:off x="1600200" y="1847088"/>
            <a:ext cx="8997696" cy="3749040"/>
          </a:xfrm>
          <a:prstGeom prst="rect">
            <a:avLst/>
          </a:prstGeom>
        </p:spPr>
      </p:pic>
      <p:sp>
        <p:nvSpPr>
          <p:cNvPr id="6" name="Rectangle 5"/>
          <p:cNvSpPr/>
          <p:nvPr/>
        </p:nvSpPr>
        <p:spPr>
          <a:xfrm>
            <a:off x="777240" y="5687568"/>
            <a:ext cx="10515600" cy="54864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5687568"/>
            <a:ext cx="10058400" cy="548640"/>
          </a:xfrm>
          <a:prstGeom prst="rect">
            <a:avLst/>
          </a:prstGeom>
          <a:noFill/>
        </p:spPr>
        <p:txBody>
          <a:bodyPr wrap="square" lIns="0" rIns="0" tIns="0" bIns="0" anchor="ctr">
            <a:noAutofit/>
          </a:bodyPr>
          <a:lstStyle/>
          <a:p>
            <a:pPr algn="l">
              <a:lnSpc>
                <a:spcPct val="100000"/>
              </a:lnSpc>
            </a:pPr>
            <a:r>
              <a:rPr sz="1500" b="0" i="0">
                <a:solidFill>
                  <a:srgbClr val="334155"/>
                </a:solidFill>
                <a:latin typeface="Arial"/>
              </a:rPr>
              <a:t>Blue = naive baseline.  Red = full CG-PED.  </a:t>
            </a:r>
            <a:r>
              <a:rPr sz="1500" b="1" i="0">
                <a:solidFill>
                  <a:srgbClr val="C0392B"/>
                </a:solidFill>
                <a:latin typeface="Arial"/>
              </a:rPr>
              <a:t>On real text the composed method is 0.254 nats worse than doing nothing clever at all.</a:t>
            </a:r>
          </a:p>
        </p:txBody>
      </p:sp>
      <p:sp>
        <p:nvSpPr>
          <p:cNvPr id="8" name="TextBox 7"/>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Results</a:t>
            </a:r>
          </a:p>
        </p:txBody>
      </p:sp>
      <p:sp>
        <p:nvSpPr>
          <p:cNvPr id="9" name="TextBox 8"/>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RESULT 2 — THE HEADLINE</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600" b="1" i="0">
                <a:solidFill>
                  <a:srgbClr val="16202E"/>
                </a:solidFill>
                <a:latin typeface="Arial"/>
              </a:rPr>
              <a:t>They compose — almost perfectly</a:t>
            </a:r>
          </a:p>
        </p:txBody>
      </p:sp>
      <p:pic>
        <p:nvPicPr>
          <p:cNvPr id="5" name="Picture 4" descr="fig3_effects.png"/>
          <p:cNvPicPr>
            <a:picLocks noChangeAspect="1"/>
          </p:cNvPicPr>
          <p:nvPr/>
        </p:nvPicPr>
        <p:blipFill>
          <a:blip r:embed="rId2"/>
          <a:stretch>
            <a:fillRect/>
          </a:stretch>
        </p:blipFill>
        <p:spPr>
          <a:xfrm>
            <a:off x="2011680" y="1792224"/>
            <a:ext cx="8165592" cy="3292577"/>
          </a:xfrm>
          <a:prstGeom prst="rect">
            <a:avLst/>
          </a:prstGeom>
        </p:spPr>
      </p:pic>
      <p:sp>
        <p:nvSpPr>
          <p:cNvPr id="6" name="TextBox 5"/>
          <p:cNvSpPr txBox="1"/>
          <p:nvPr/>
        </p:nvSpPr>
        <p:spPr>
          <a:xfrm>
            <a:off x="777240" y="5138928"/>
            <a:ext cx="2468880" cy="566928"/>
          </a:xfrm>
          <a:prstGeom prst="rect">
            <a:avLst/>
          </a:prstGeom>
          <a:noFill/>
        </p:spPr>
        <p:txBody>
          <a:bodyPr wrap="square" lIns="0" rIns="0" tIns="0" bIns="0" anchor="t">
            <a:noAutofit/>
          </a:bodyPr>
          <a:lstStyle/>
          <a:p>
            <a:pPr algn="ctr">
              <a:lnSpc>
                <a:spcPct val="95000"/>
              </a:lnSpc>
            </a:pPr>
            <a:r>
              <a:rPr sz="2700" b="1" i="0">
                <a:solidFill>
                  <a:srgbClr val="0E8074"/>
                </a:solidFill>
                <a:latin typeface="Arial"/>
              </a:rPr>
              <a:t>−0.0003</a:t>
            </a:r>
          </a:p>
        </p:txBody>
      </p:sp>
      <p:sp>
        <p:nvSpPr>
          <p:cNvPr id="7" name="TextBox 6"/>
          <p:cNvSpPr txBox="1"/>
          <p:nvPr/>
        </p:nvSpPr>
        <p:spPr>
          <a:xfrm>
            <a:off x="777240" y="5705856"/>
            <a:ext cx="2468880" cy="658368"/>
          </a:xfrm>
          <a:prstGeom prst="rect">
            <a:avLst/>
          </a:prstGeom>
          <a:noFill/>
        </p:spPr>
        <p:txBody>
          <a:bodyPr wrap="square" lIns="0" rIns="0" tIns="0" bIns="0" anchor="t">
            <a:noAutofit/>
          </a:bodyPr>
          <a:lstStyle/>
          <a:p>
            <a:pPr algn="ctr">
              <a:lnSpc>
                <a:spcPct val="115000"/>
              </a:lnSpc>
            </a:pPr>
            <a:r>
              <a:rPr sz="1250" b="0" i="0">
                <a:solidFill>
                  <a:srgbClr val="708196"/>
                </a:solidFill>
                <a:latin typeface="Arial"/>
              </a:rPr>
              <a:t>composition gap
synthetic</a:t>
            </a:r>
          </a:p>
        </p:txBody>
      </p:sp>
      <p:sp>
        <p:nvSpPr>
          <p:cNvPr id="8" name="TextBox 7"/>
          <p:cNvSpPr txBox="1"/>
          <p:nvPr/>
        </p:nvSpPr>
        <p:spPr>
          <a:xfrm>
            <a:off x="3429000" y="5138928"/>
            <a:ext cx="2468880" cy="566928"/>
          </a:xfrm>
          <a:prstGeom prst="rect">
            <a:avLst/>
          </a:prstGeom>
          <a:noFill/>
        </p:spPr>
        <p:txBody>
          <a:bodyPr wrap="square" lIns="0" rIns="0" tIns="0" bIns="0" anchor="t">
            <a:noAutofit/>
          </a:bodyPr>
          <a:lstStyle/>
          <a:p>
            <a:pPr algn="ctr">
              <a:lnSpc>
                <a:spcPct val="95000"/>
              </a:lnSpc>
            </a:pPr>
            <a:r>
              <a:rPr sz="2700" b="1" i="0">
                <a:solidFill>
                  <a:srgbClr val="0E8074"/>
                </a:solidFill>
                <a:latin typeface="Arial"/>
              </a:rPr>
              <a:t>+0.0008</a:t>
            </a:r>
          </a:p>
        </p:txBody>
      </p:sp>
      <p:sp>
        <p:nvSpPr>
          <p:cNvPr id="9" name="TextBox 8"/>
          <p:cNvSpPr txBox="1"/>
          <p:nvPr/>
        </p:nvSpPr>
        <p:spPr>
          <a:xfrm>
            <a:off x="3429000" y="5705856"/>
            <a:ext cx="2468880" cy="658368"/>
          </a:xfrm>
          <a:prstGeom prst="rect">
            <a:avLst/>
          </a:prstGeom>
          <a:noFill/>
        </p:spPr>
        <p:txBody>
          <a:bodyPr wrap="square" lIns="0" rIns="0" tIns="0" bIns="0" anchor="t">
            <a:noAutofit/>
          </a:bodyPr>
          <a:lstStyle/>
          <a:p>
            <a:pPr algn="ctr">
              <a:lnSpc>
                <a:spcPct val="115000"/>
              </a:lnSpc>
            </a:pPr>
            <a:r>
              <a:rPr sz="1250" b="0" i="0">
                <a:solidFill>
                  <a:srgbClr val="708196"/>
                </a:solidFill>
                <a:latin typeface="Arial"/>
              </a:rPr>
              <a:t>composition gap
real text</a:t>
            </a:r>
          </a:p>
        </p:txBody>
      </p:sp>
      <p:sp>
        <p:nvSpPr>
          <p:cNvPr id="10" name="TextBox 9"/>
          <p:cNvSpPr txBox="1"/>
          <p:nvPr/>
        </p:nvSpPr>
        <p:spPr>
          <a:xfrm>
            <a:off x="6080760" y="5138928"/>
            <a:ext cx="2468880" cy="566928"/>
          </a:xfrm>
          <a:prstGeom prst="rect">
            <a:avLst/>
          </a:prstGeom>
          <a:noFill/>
        </p:spPr>
        <p:txBody>
          <a:bodyPr wrap="square" lIns="0" rIns="0" tIns="0" bIns="0" anchor="t">
            <a:noAutofit/>
          </a:bodyPr>
          <a:lstStyle/>
          <a:p>
            <a:pPr algn="ctr">
              <a:lnSpc>
                <a:spcPct val="95000"/>
              </a:lnSpc>
            </a:pPr>
            <a:r>
              <a:rPr sz="1800" b="1" i="0">
                <a:solidFill>
                  <a:srgbClr val="708196"/>
                </a:solidFill>
                <a:latin typeface="Arial"/>
              </a:rPr>
              <a:t>±0.0055 / ±0.0099</a:t>
            </a:r>
          </a:p>
        </p:txBody>
      </p:sp>
      <p:sp>
        <p:nvSpPr>
          <p:cNvPr id="11" name="TextBox 10"/>
          <p:cNvSpPr txBox="1"/>
          <p:nvPr/>
        </p:nvSpPr>
        <p:spPr>
          <a:xfrm>
            <a:off x="6080760" y="5705856"/>
            <a:ext cx="2468880" cy="658368"/>
          </a:xfrm>
          <a:prstGeom prst="rect">
            <a:avLst/>
          </a:prstGeom>
          <a:noFill/>
        </p:spPr>
        <p:txBody>
          <a:bodyPr wrap="square" lIns="0" rIns="0" tIns="0" bIns="0" anchor="t">
            <a:noAutofit/>
          </a:bodyPr>
          <a:lstStyle/>
          <a:p>
            <a:pPr algn="ctr">
              <a:lnSpc>
                <a:spcPct val="115000"/>
              </a:lnSpc>
            </a:pPr>
            <a:r>
              <a:rPr sz="1250" b="0" i="0">
                <a:solidFill>
                  <a:srgbClr val="708196"/>
                </a:solidFill>
                <a:latin typeface="Arial"/>
              </a:rPr>
              <a:t>seed noise floor</a:t>
            </a:r>
          </a:p>
        </p:txBody>
      </p:sp>
      <p:sp>
        <p:nvSpPr>
          <p:cNvPr id="12" name="TextBox 11"/>
          <p:cNvSpPr txBox="1"/>
          <p:nvPr/>
        </p:nvSpPr>
        <p:spPr>
          <a:xfrm>
            <a:off x="8732520" y="5138928"/>
            <a:ext cx="2560320" cy="566928"/>
          </a:xfrm>
          <a:prstGeom prst="rect">
            <a:avLst/>
          </a:prstGeom>
          <a:noFill/>
        </p:spPr>
        <p:txBody>
          <a:bodyPr wrap="square" lIns="0" rIns="0" tIns="0" bIns="0" anchor="t">
            <a:noAutofit/>
          </a:bodyPr>
          <a:lstStyle/>
          <a:p>
            <a:pPr algn="ctr">
              <a:lnSpc>
                <a:spcPct val="95000"/>
              </a:lnSpc>
            </a:pPr>
            <a:r>
              <a:rPr sz="2700" b="1" i="0">
                <a:solidFill>
                  <a:srgbClr val="C0392B"/>
                </a:solidFill>
                <a:latin typeface="Arial"/>
              </a:rPr>
              <a:t>12–18×</a:t>
            </a:r>
          </a:p>
        </p:txBody>
      </p:sp>
      <p:sp>
        <p:nvSpPr>
          <p:cNvPr id="13" name="TextBox 12"/>
          <p:cNvSpPr txBox="1"/>
          <p:nvPr/>
        </p:nvSpPr>
        <p:spPr>
          <a:xfrm>
            <a:off x="8732520" y="5705856"/>
            <a:ext cx="2560320" cy="658368"/>
          </a:xfrm>
          <a:prstGeom prst="rect">
            <a:avLst/>
          </a:prstGeom>
          <a:noFill/>
        </p:spPr>
        <p:txBody>
          <a:bodyPr wrap="square" lIns="0" rIns="0" tIns="0" bIns="0" anchor="t">
            <a:noAutofit/>
          </a:bodyPr>
          <a:lstStyle/>
          <a:p>
            <a:pPr algn="ctr">
              <a:lnSpc>
                <a:spcPct val="115000"/>
              </a:lnSpc>
            </a:pPr>
            <a:r>
              <a:rPr sz="1250" b="0" i="0">
                <a:solidFill>
                  <a:srgbClr val="708196"/>
                </a:solidFill>
                <a:latin typeface="Arial"/>
              </a:rPr>
              <a:t>smaller than the noise
that surrounds it</a:t>
            </a:r>
          </a:p>
        </p:txBody>
      </p:sp>
      <p:sp>
        <p:nvSpPr>
          <p:cNvPr id="14" name="TextBox 13"/>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Results</a:t>
            </a:r>
          </a:p>
        </p:txBody>
      </p:sp>
      <p:sp>
        <p:nvSpPr>
          <p:cNvPr id="15" name="TextBox 14"/>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RESULT 3</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600" b="1" i="0">
                <a:solidFill>
                  <a:srgbClr val="16202E"/>
                </a:solidFill>
                <a:latin typeface="Arial"/>
              </a:rPr>
              <a:t>Who helps, who costs, who is just noise</a:t>
            </a:r>
          </a:p>
        </p:txBody>
      </p:sp>
      <p:sp>
        <p:nvSpPr>
          <p:cNvPr id="5" name="TextBox 4"/>
          <p:cNvSpPr txBox="1"/>
          <p:nvPr/>
        </p:nvSpPr>
        <p:spPr>
          <a:xfrm>
            <a:off x="777240" y="1975104"/>
            <a:ext cx="2377440" cy="274320"/>
          </a:xfrm>
          <a:prstGeom prst="rect">
            <a:avLst/>
          </a:prstGeom>
          <a:noFill/>
        </p:spPr>
        <p:txBody>
          <a:bodyPr wrap="square" lIns="0" rIns="0" tIns="0" bIns="0" anchor="t">
            <a:noAutofit/>
          </a:bodyPr>
          <a:lstStyle/>
          <a:p>
            <a:pPr algn="l">
              <a:lnSpc>
                <a:spcPct val="100000"/>
              </a:lnSpc>
            </a:pPr>
            <a:r>
              <a:rPr sz="1150" b="1" i="0">
                <a:solidFill>
                  <a:srgbClr val="708196"/>
                </a:solidFill>
                <a:latin typeface="Arial"/>
              </a:rPr>
              <a:t>TECHNIQUE</a:t>
            </a:r>
          </a:p>
        </p:txBody>
      </p:sp>
      <p:sp>
        <p:nvSpPr>
          <p:cNvPr id="6" name="TextBox 5"/>
          <p:cNvSpPr txBox="1"/>
          <p:nvPr/>
        </p:nvSpPr>
        <p:spPr>
          <a:xfrm>
            <a:off x="3246120" y="1975104"/>
            <a:ext cx="1371600" cy="274320"/>
          </a:xfrm>
          <a:prstGeom prst="rect">
            <a:avLst/>
          </a:prstGeom>
          <a:noFill/>
        </p:spPr>
        <p:txBody>
          <a:bodyPr wrap="square" lIns="0" rIns="0" tIns="0" bIns="0" anchor="t">
            <a:noAutofit/>
          </a:bodyPr>
          <a:lstStyle/>
          <a:p>
            <a:pPr algn="l">
              <a:lnSpc>
                <a:spcPct val="100000"/>
              </a:lnSpc>
            </a:pPr>
            <a:r>
              <a:rPr sz="1150" b="1" i="0">
                <a:solidFill>
                  <a:srgbClr val="708196"/>
                </a:solidFill>
                <a:latin typeface="Arial"/>
              </a:rPr>
              <a:t>SYNTHETIC</a:t>
            </a:r>
          </a:p>
        </p:txBody>
      </p:sp>
      <p:sp>
        <p:nvSpPr>
          <p:cNvPr id="7" name="TextBox 6"/>
          <p:cNvSpPr txBox="1"/>
          <p:nvPr/>
        </p:nvSpPr>
        <p:spPr>
          <a:xfrm>
            <a:off x="4800600" y="1975104"/>
            <a:ext cx="1371600" cy="274320"/>
          </a:xfrm>
          <a:prstGeom prst="rect">
            <a:avLst/>
          </a:prstGeom>
          <a:noFill/>
        </p:spPr>
        <p:txBody>
          <a:bodyPr wrap="square" lIns="0" rIns="0" tIns="0" bIns="0" anchor="t">
            <a:noAutofit/>
          </a:bodyPr>
          <a:lstStyle/>
          <a:p>
            <a:pPr algn="l">
              <a:lnSpc>
                <a:spcPct val="100000"/>
              </a:lnSpc>
            </a:pPr>
            <a:r>
              <a:rPr sz="1150" b="1" i="0">
                <a:solidFill>
                  <a:srgbClr val="708196"/>
                </a:solidFill>
                <a:latin typeface="Arial"/>
              </a:rPr>
              <a:t>REAL TEXT</a:t>
            </a:r>
          </a:p>
        </p:txBody>
      </p:sp>
      <p:sp>
        <p:nvSpPr>
          <p:cNvPr id="8" name="TextBox 7"/>
          <p:cNvSpPr txBox="1"/>
          <p:nvPr/>
        </p:nvSpPr>
        <p:spPr>
          <a:xfrm>
            <a:off x="6446520" y="1975104"/>
            <a:ext cx="4846320" cy="274320"/>
          </a:xfrm>
          <a:prstGeom prst="rect">
            <a:avLst/>
          </a:prstGeom>
          <a:noFill/>
        </p:spPr>
        <p:txBody>
          <a:bodyPr wrap="square" lIns="0" rIns="0" tIns="0" bIns="0" anchor="t">
            <a:noAutofit/>
          </a:bodyPr>
          <a:lstStyle/>
          <a:p>
            <a:pPr algn="l">
              <a:lnSpc>
                <a:spcPct val="100000"/>
              </a:lnSpc>
            </a:pPr>
            <a:r>
              <a:rPr sz="1150" b="1" i="0">
                <a:solidFill>
                  <a:srgbClr val="708196"/>
                </a:solidFill>
                <a:latin typeface="Arial"/>
              </a:rPr>
              <a:t>VERDICT</a:t>
            </a:r>
          </a:p>
        </p:txBody>
      </p:sp>
      <p:sp>
        <p:nvSpPr>
          <p:cNvPr id="9" name="Rectangle 8"/>
          <p:cNvSpPr/>
          <p:nvPr/>
        </p:nvSpPr>
        <p:spPr>
          <a:xfrm>
            <a:off x="777240" y="2286000"/>
            <a:ext cx="10515600" cy="22860"/>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423160"/>
            <a:ext cx="10515600" cy="9326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423160"/>
            <a:ext cx="68580" cy="932688"/>
          </a:xfrm>
          <a:prstGeom prst="rect">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423160"/>
            <a:ext cx="2194560" cy="932688"/>
          </a:xfrm>
          <a:prstGeom prst="rect">
            <a:avLst/>
          </a:prstGeom>
          <a:noFill/>
        </p:spPr>
        <p:txBody>
          <a:bodyPr wrap="square" lIns="0" rIns="0" tIns="0" bIns="0" anchor="ctr">
            <a:noAutofit/>
          </a:bodyPr>
          <a:lstStyle/>
          <a:p>
            <a:pPr algn="l">
              <a:lnSpc>
                <a:spcPct val="100000"/>
              </a:lnSpc>
            </a:pPr>
            <a:r>
              <a:rPr sz="1900" b="1" i="0">
                <a:solidFill>
                  <a:srgbClr val="E08A2E"/>
                </a:solidFill>
                <a:latin typeface="Arial"/>
              </a:rPr>
              <a:t>Curriculum</a:t>
            </a:r>
          </a:p>
        </p:txBody>
      </p:sp>
      <p:sp>
        <p:nvSpPr>
          <p:cNvPr id="13" name="TextBox 12"/>
          <p:cNvSpPr txBox="1"/>
          <p:nvPr/>
        </p:nvSpPr>
        <p:spPr>
          <a:xfrm>
            <a:off x="3246120" y="2423160"/>
            <a:ext cx="1371600" cy="932688"/>
          </a:xfrm>
          <a:prstGeom prst="rect">
            <a:avLst/>
          </a:prstGeom>
          <a:noFill/>
        </p:spPr>
        <p:txBody>
          <a:bodyPr wrap="square" lIns="0" rIns="0" tIns="0" bIns="0" anchor="ctr">
            <a:noAutofit/>
          </a:bodyPr>
          <a:lstStyle/>
          <a:p>
            <a:pPr algn="l">
              <a:lnSpc>
                <a:spcPct val="100000"/>
              </a:lnSpc>
            </a:pPr>
            <a:r>
              <a:rPr sz="1800" b="1" i="0">
                <a:solidFill>
                  <a:srgbClr val="16202E"/>
                </a:solidFill>
                <a:latin typeface="Courier New"/>
              </a:rPr>
              <a:t>−0.004</a:t>
            </a:r>
          </a:p>
        </p:txBody>
      </p:sp>
      <p:sp>
        <p:nvSpPr>
          <p:cNvPr id="14" name="TextBox 13"/>
          <p:cNvSpPr txBox="1"/>
          <p:nvPr/>
        </p:nvSpPr>
        <p:spPr>
          <a:xfrm>
            <a:off x="4800600" y="2423160"/>
            <a:ext cx="1463040" cy="932688"/>
          </a:xfrm>
          <a:prstGeom prst="rect">
            <a:avLst/>
          </a:prstGeom>
          <a:noFill/>
        </p:spPr>
        <p:txBody>
          <a:bodyPr wrap="square" lIns="0" rIns="0" tIns="0" bIns="0" anchor="ctr">
            <a:noAutofit/>
          </a:bodyPr>
          <a:lstStyle/>
          <a:p>
            <a:pPr algn="l">
              <a:lnSpc>
                <a:spcPct val="100000"/>
              </a:lnSpc>
            </a:pPr>
            <a:r>
              <a:rPr sz="1800" b="1" i="0">
                <a:solidFill>
                  <a:srgbClr val="C0392B"/>
                </a:solidFill>
                <a:latin typeface="Courier New"/>
              </a:rPr>
              <a:t>+0.012</a:t>
            </a:r>
          </a:p>
        </p:txBody>
      </p:sp>
      <p:sp>
        <p:nvSpPr>
          <p:cNvPr id="15" name="TextBox 14"/>
          <p:cNvSpPr txBox="1"/>
          <p:nvPr/>
        </p:nvSpPr>
        <p:spPr>
          <a:xfrm>
            <a:off x="6446520" y="2423160"/>
            <a:ext cx="4709160" cy="932688"/>
          </a:xfrm>
          <a:prstGeom prst="rect">
            <a:avLst/>
          </a:prstGeom>
          <a:noFill/>
        </p:spPr>
        <p:txBody>
          <a:bodyPr wrap="square" lIns="0" rIns="0" tIns="0" bIns="0" anchor="ctr">
            <a:noAutofit/>
          </a:bodyPr>
          <a:lstStyle/>
          <a:p>
            <a:pPr algn="l">
              <a:lnSpc>
                <a:spcPct val="120000"/>
              </a:lnSpc>
            </a:pPr>
            <a:r>
              <a:rPr sz="1400" b="0" i="0">
                <a:solidFill>
                  <a:srgbClr val="334155"/>
                </a:solidFill>
                <a:latin typeface="Arial"/>
              </a:rPr>
              <a:t>Inside the noise, and it flips sign. Free — and worth what you pay.</a:t>
            </a:r>
          </a:p>
        </p:txBody>
      </p:sp>
      <p:sp>
        <p:nvSpPr>
          <p:cNvPr id="16" name="Rectangle 15"/>
          <p:cNvSpPr/>
          <p:nvPr/>
        </p:nvSpPr>
        <p:spPr>
          <a:xfrm>
            <a:off x="777240" y="3447288"/>
            <a:ext cx="10515600" cy="9326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447288"/>
            <a:ext cx="68580" cy="93268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447288"/>
            <a:ext cx="2194560" cy="932688"/>
          </a:xfrm>
          <a:prstGeom prst="rect">
            <a:avLst/>
          </a:prstGeom>
          <a:noFill/>
        </p:spPr>
        <p:txBody>
          <a:bodyPr wrap="square" lIns="0" rIns="0" tIns="0" bIns="0" anchor="ctr">
            <a:noAutofit/>
          </a:bodyPr>
          <a:lstStyle/>
          <a:p>
            <a:pPr algn="l">
              <a:lnSpc>
                <a:spcPct val="100000"/>
              </a:lnSpc>
            </a:pPr>
            <a:r>
              <a:rPr sz="1900" b="1" i="0">
                <a:solidFill>
                  <a:srgbClr val="C0392B"/>
                </a:solidFill>
                <a:latin typeface="Arial"/>
              </a:rPr>
              <a:t>LoRA</a:t>
            </a:r>
          </a:p>
        </p:txBody>
      </p:sp>
      <p:sp>
        <p:nvSpPr>
          <p:cNvPr id="19" name="TextBox 18"/>
          <p:cNvSpPr txBox="1"/>
          <p:nvPr/>
        </p:nvSpPr>
        <p:spPr>
          <a:xfrm>
            <a:off x="3246120" y="3447288"/>
            <a:ext cx="1371600" cy="932688"/>
          </a:xfrm>
          <a:prstGeom prst="rect">
            <a:avLst/>
          </a:prstGeom>
          <a:noFill/>
        </p:spPr>
        <p:txBody>
          <a:bodyPr wrap="square" lIns="0" rIns="0" tIns="0" bIns="0" anchor="ctr">
            <a:noAutofit/>
          </a:bodyPr>
          <a:lstStyle/>
          <a:p>
            <a:pPr algn="l">
              <a:lnSpc>
                <a:spcPct val="100000"/>
              </a:lnSpc>
            </a:pPr>
            <a:r>
              <a:rPr sz="1800" b="1" i="0">
                <a:solidFill>
                  <a:srgbClr val="16202E"/>
                </a:solidFill>
                <a:latin typeface="Courier New"/>
              </a:rPr>
              <a:t>+0.027</a:t>
            </a:r>
          </a:p>
        </p:txBody>
      </p:sp>
      <p:sp>
        <p:nvSpPr>
          <p:cNvPr id="20" name="TextBox 19"/>
          <p:cNvSpPr txBox="1"/>
          <p:nvPr/>
        </p:nvSpPr>
        <p:spPr>
          <a:xfrm>
            <a:off x="4800600" y="3447288"/>
            <a:ext cx="1463040" cy="932688"/>
          </a:xfrm>
          <a:prstGeom prst="rect">
            <a:avLst/>
          </a:prstGeom>
          <a:noFill/>
        </p:spPr>
        <p:txBody>
          <a:bodyPr wrap="square" lIns="0" rIns="0" tIns="0" bIns="0" anchor="ctr">
            <a:noAutofit/>
          </a:bodyPr>
          <a:lstStyle/>
          <a:p>
            <a:pPr algn="l">
              <a:lnSpc>
                <a:spcPct val="100000"/>
              </a:lnSpc>
            </a:pPr>
            <a:r>
              <a:rPr sz="1800" b="1" i="0">
                <a:solidFill>
                  <a:srgbClr val="C0392B"/>
                </a:solidFill>
                <a:latin typeface="Courier New"/>
              </a:rPr>
              <a:t>+0.278</a:t>
            </a:r>
          </a:p>
        </p:txBody>
      </p:sp>
      <p:sp>
        <p:nvSpPr>
          <p:cNvPr id="21" name="TextBox 20"/>
          <p:cNvSpPr txBox="1"/>
          <p:nvPr/>
        </p:nvSpPr>
        <p:spPr>
          <a:xfrm>
            <a:off x="6446520" y="3447288"/>
            <a:ext cx="4709160" cy="932688"/>
          </a:xfrm>
          <a:prstGeom prst="rect">
            <a:avLst/>
          </a:prstGeom>
          <a:noFill/>
        </p:spPr>
        <p:txBody>
          <a:bodyPr wrap="square" lIns="0" rIns="0" tIns="0" bIns="0" anchor="ctr">
            <a:noAutofit/>
          </a:bodyPr>
          <a:lstStyle/>
          <a:p>
            <a:pPr algn="l">
              <a:lnSpc>
                <a:spcPct val="120000"/>
              </a:lnSpc>
            </a:pPr>
            <a:r>
              <a:rPr sz="1400" b="0" i="0">
                <a:solidFill>
                  <a:srgbClr val="334155"/>
                </a:solidFill>
                <a:latin typeface="Arial"/>
              </a:rPr>
              <a:t>28× the noise on real text. The dominant term, and it is a cost.</a:t>
            </a:r>
          </a:p>
        </p:txBody>
      </p:sp>
      <p:sp>
        <p:nvSpPr>
          <p:cNvPr id="22" name="Rectangle 21"/>
          <p:cNvSpPr/>
          <p:nvPr/>
        </p:nvSpPr>
        <p:spPr>
          <a:xfrm>
            <a:off x="777240" y="4471416"/>
            <a:ext cx="10515600" cy="9326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471416"/>
            <a:ext cx="68580" cy="932688"/>
          </a:xfrm>
          <a:prstGeom prst="rect">
            <a:avLst/>
          </a:prstGeom>
          <a:solidFill>
            <a:srgbClr val="0E8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471416"/>
            <a:ext cx="2194560" cy="932688"/>
          </a:xfrm>
          <a:prstGeom prst="rect">
            <a:avLst/>
          </a:prstGeom>
          <a:noFill/>
        </p:spPr>
        <p:txBody>
          <a:bodyPr wrap="square" lIns="0" rIns="0" tIns="0" bIns="0" anchor="ctr">
            <a:noAutofit/>
          </a:bodyPr>
          <a:lstStyle/>
          <a:p>
            <a:pPr algn="l">
              <a:lnSpc>
                <a:spcPct val="100000"/>
              </a:lnSpc>
            </a:pPr>
            <a:r>
              <a:rPr sz="1900" b="1" i="0">
                <a:solidFill>
                  <a:srgbClr val="0E8074"/>
                </a:solidFill>
                <a:latin typeface="Arial"/>
              </a:rPr>
              <a:t>Distillation</a:t>
            </a:r>
          </a:p>
        </p:txBody>
      </p:sp>
      <p:sp>
        <p:nvSpPr>
          <p:cNvPr id="25" name="TextBox 24"/>
          <p:cNvSpPr txBox="1"/>
          <p:nvPr/>
        </p:nvSpPr>
        <p:spPr>
          <a:xfrm>
            <a:off x="3246120" y="4471416"/>
            <a:ext cx="1371600" cy="932688"/>
          </a:xfrm>
          <a:prstGeom prst="rect">
            <a:avLst/>
          </a:prstGeom>
          <a:noFill/>
        </p:spPr>
        <p:txBody>
          <a:bodyPr wrap="square" lIns="0" rIns="0" tIns="0" bIns="0" anchor="ctr">
            <a:noAutofit/>
          </a:bodyPr>
          <a:lstStyle/>
          <a:p>
            <a:pPr algn="l">
              <a:lnSpc>
                <a:spcPct val="100000"/>
              </a:lnSpc>
            </a:pPr>
            <a:r>
              <a:rPr sz="1800" b="1" i="0">
                <a:solidFill>
                  <a:srgbClr val="16202E"/>
                </a:solidFill>
                <a:latin typeface="Courier New"/>
              </a:rPr>
              <a:t>−0.007</a:t>
            </a:r>
          </a:p>
        </p:txBody>
      </p:sp>
      <p:sp>
        <p:nvSpPr>
          <p:cNvPr id="26" name="TextBox 25"/>
          <p:cNvSpPr txBox="1"/>
          <p:nvPr/>
        </p:nvSpPr>
        <p:spPr>
          <a:xfrm>
            <a:off x="4800600" y="4471416"/>
            <a:ext cx="1463040" cy="932688"/>
          </a:xfrm>
          <a:prstGeom prst="rect">
            <a:avLst/>
          </a:prstGeom>
          <a:noFill/>
        </p:spPr>
        <p:txBody>
          <a:bodyPr wrap="square" lIns="0" rIns="0" tIns="0" bIns="0" anchor="ctr">
            <a:noAutofit/>
          </a:bodyPr>
          <a:lstStyle/>
          <a:p>
            <a:pPr algn="l">
              <a:lnSpc>
                <a:spcPct val="100000"/>
              </a:lnSpc>
            </a:pPr>
            <a:r>
              <a:rPr sz="1800" b="1" i="0">
                <a:solidFill>
                  <a:srgbClr val="0E8074"/>
                </a:solidFill>
                <a:latin typeface="Courier New"/>
              </a:rPr>
              <a:t>−0.037</a:t>
            </a:r>
          </a:p>
        </p:txBody>
      </p:sp>
      <p:sp>
        <p:nvSpPr>
          <p:cNvPr id="27" name="TextBox 26"/>
          <p:cNvSpPr txBox="1"/>
          <p:nvPr/>
        </p:nvSpPr>
        <p:spPr>
          <a:xfrm>
            <a:off x="6446520" y="4471416"/>
            <a:ext cx="4709160" cy="932688"/>
          </a:xfrm>
          <a:prstGeom prst="rect">
            <a:avLst/>
          </a:prstGeom>
          <a:noFill/>
        </p:spPr>
        <p:txBody>
          <a:bodyPr wrap="square" lIns="0" rIns="0" tIns="0" bIns="0" anchor="ctr">
            <a:noAutofit/>
          </a:bodyPr>
          <a:lstStyle/>
          <a:p>
            <a:pPr algn="l">
              <a:lnSpc>
                <a:spcPct val="120000"/>
              </a:lnSpc>
            </a:pPr>
            <a:r>
              <a:rPr sz="1400" b="0" i="0">
                <a:solidFill>
                  <a:srgbClr val="334155"/>
                </a:solidFill>
                <a:latin typeface="Arial"/>
              </a:rPr>
              <a:t>The only effect that helps on both benchmarks. The one thing to keep.</a:t>
            </a:r>
          </a:p>
        </p:txBody>
      </p:sp>
      <p:sp>
        <p:nvSpPr>
          <p:cNvPr id="28" name="Rectangle 27"/>
          <p:cNvSpPr/>
          <p:nvPr/>
        </p:nvSpPr>
        <p:spPr>
          <a:xfrm>
            <a:off x="777240" y="5577840"/>
            <a:ext cx="10515600" cy="676656"/>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5577840"/>
            <a:ext cx="10058400" cy="676656"/>
          </a:xfrm>
          <a:prstGeom prst="rect">
            <a:avLst/>
          </a:prstGeom>
          <a:noFill/>
        </p:spPr>
        <p:txBody>
          <a:bodyPr wrap="square" lIns="0" rIns="0" tIns="0" bIns="0" anchor="ctr">
            <a:noAutofit/>
          </a:bodyPr>
          <a:lstStyle/>
          <a:p>
            <a:pPr algn="l">
              <a:lnSpc>
                <a:spcPct val="100000"/>
              </a:lnSpc>
            </a:pPr>
            <a:r>
              <a:rPr sz="1550" b="1" i="0">
                <a:solidFill>
                  <a:srgbClr val="FFFFFF"/>
                </a:solidFill>
                <a:latin typeface="Arial"/>
              </a:rPr>
              <a:t>Sticky notes only save time if the book is already written. Training from scratch, the book is blank — and rank 4 has to write all of it.</a:t>
            </a:r>
          </a:p>
        </p:txBody>
      </p:sp>
      <p:sp>
        <p:nvSpPr>
          <p:cNvPr id="30" name="TextBox 29"/>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Results</a:t>
            </a:r>
          </a:p>
        </p:txBody>
      </p:sp>
      <p:sp>
        <p:nvSpPr>
          <p:cNvPr id="31" name="TextBox 30"/>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RESULT 4 — THE REALITY CHECK</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400" b="1" i="0">
                <a:solidFill>
                  <a:srgbClr val="16202E"/>
                </a:solidFill>
                <a:latin typeface="Arial"/>
              </a:rPr>
              <a:t>Equal steps flatters us. Equal wall clock does not.</a:t>
            </a:r>
          </a:p>
        </p:txBody>
      </p:sp>
      <p:pic>
        <p:nvPicPr>
          <p:cNvPr id="5" name="Picture 4" descr="fig4_budget.png"/>
          <p:cNvPicPr>
            <a:picLocks noChangeAspect="1"/>
          </p:cNvPicPr>
          <p:nvPr/>
        </p:nvPicPr>
        <p:blipFill>
          <a:blip r:embed="rId2"/>
          <a:stretch>
            <a:fillRect/>
          </a:stretch>
        </p:blipFill>
        <p:spPr>
          <a:xfrm>
            <a:off x="2148840" y="1810512"/>
            <a:ext cx="7900416" cy="3291840"/>
          </a:xfrm>
          <a:prstGeom prst="rect">
            <a:avLst/>
          </a:prstGeom>
        </p:spPr>
      </p:pic>
      <p:sp>
        <p:nvSpPr>
          <p:cNvPr id="6" name="TextBox 5"/>
          <p:cNvSpPr txBox="1"/>
          <p:nvPr/>
        </p:nvSpPr>
        <p:spPr>
          <a:xfrm>
            <a:off x="777240" y="5175504"/>
            <a:ext cx="2468880" cy="566928"/>
          </a:xfrm>
          <a:prstGeom prst="rect">
            <a:avLst/>
          </a:prstGeom>
          <a:noFill/>
        </p:spPr>
        <p:txBody>
          <a:bodyPr wrap="square" lIns="0" rIns="0" tIns="0" bIns="0" anchor="t">
            <a:noAutofit/>
          </a:bodyPr>
          <a:lstStyle/>
          <a:p>
            <a:pPr algn="ctr">
              <a:lnSpc>
                <a:spcPct val="95000"/>
              </a:lnSpc>
            </a:pPr>
            <a:r>
              <a:rPr sz="2700" b="1" i="0">
                <a:solidFill>
                  <a:srgbClr val="C0392B"/>
                </a:solidFill>
                <a:latin typeface="Arial"/>
              </a:rPr>
              <a:t>2.1–2.3×</a:t>
            </a:r>
          </a:p>
        </p:txBody>
      </p:sp>
      <p:sp>
        <p:nvSpPr>
          <p:cNvPr id="7" name="TextBox 6"/>
          <p:cNvSpPr txBox="1"/>
          <p:nvPr/>
        </p:nvSpPr>
        <p:spPr>
          <a:xfrm>
            <a:off x="777240" y="5742432"/>
            <a:ext cx="2468880" cy="658368"/>
          </a:xfrm>
          <a:prstGeom prst="rect">
            <a:avLst/>
          </a:prstGeom>
          <a:noFill/>
        </p:spPr>
        <p:txBody>
          <a:bodyPr wrap="square" lIns="0" rIns="0" tIns="0" bIns="0" anchor="t">
            <a:noAutofit/>
          </a:bodyPr>
          <a:lstStyle/>
          <a:p>
            <a:pPr algn="ctr">
              <a:lnSpc>
                <a:spcPct val="115000"/>
              </a:lnSpc>
            </a:pPr>
            <a:r>
              <a:rPr sz="1250" b="0" i="0">
                <a:solidFill>
                  <a:srgbClr val="708196"/>
                </a:solidFill>
                <a:latin typeface="Arial"/>
              </a:rPr>
              <a:t>cost per step
vs the naive run</a:t>
            </a:r>
          </a:p>
        </p:txBody>
      </p:sp>
      <p:sp>
        <p:nvSpPr>
          <p:cNvPr id="8" name="TextBox 7"/>
          <p:cNvSpPr txBox="1"/>
          <p:nvPr/>
        </p:nvSpPr>
        <p:spPr>
          <a:xfrm>
            <a:off x="3429000" y="5175504"/>
            <a:ext cx="2468880" cy="566928"/>
          </a:xfrm>
          <a:prstGeom prst="rect">
            <a:avLst/>
          </a:prstGeom>
          <a:noFill/>
        </p:spPr>
        <p:txBody>
          <a:bodyPr wrap="square" lIns="0" rIns="0" tIns="0" bIns="0" anchor="t">
            <a:noAutofit/>
          </a:bodyPr>
          <a:lstStyle/>
          <a:p>
            <a:pPr algn="ctr">
              <a:lnSpc>
                <a:spcPct val="95000"/>
              </a:lnSpc>
            </a:pPr>
            <a:r>
              <a:rPr sz="2700" b="1" i="0">
                <a:solidFill>
                  <a:srgbClr val="C0392B"/>
                </a:solidFill>
                <a:latin typeface="Arial"/>
              </a:rPr>
              <a:t>131 / 139</a:t>
            </a:r>
          </a:p>
        </p:txBody>
      </p:sp>
      <p:sp>
        <p:nvSpPr>
          <p:cNvPr id="9" name="TextBox 8"/>
          <p:cNvSpPr txBox="1"/>
          <p:nvPr/>
        </p:nvSpPr>
        <p:spPr>
          <a:xfrm>
            <a:off x="3429000" y="5742432"/>
            <a:ext cx="2468880" cy="658368"/>
          </a:xfrm>
          <a:prstGeom prst="rect">
            <a:avLst/>
          </a:prstGeom>
          <a:noFill/>
        </p:spPr>
        <p:txBody>
          <a:bodyPr wrap="square" lIns="0" rIns="0" tIns="0" bIns="0" anchor="t">
            <a:noAutofit/>
          </a:bodyPr>
          <a:lstStyle/>
          <a:p>
            <a:pPr algn="ctr">
              <a:lnSpc>
                <a:spcPct val="115000"/>
              </a:lnSpc>
            </a:pPr>
            <a:r>
              <a:rPr sz="1250" b="0" i="0">
                <a:solidFill>
                  <a:srgbClr val="708196"/>
                </a:solidFill>
                <a:latin typeface="Arial"/>
              </a:rPr>
              <a:t>steps CG-PED affords
in the naive run's time</a:t>
            </a:r>
          </a:p>
        </p:txBody>
      </p:sp>
      <p:sp>
        <p:nvSpPr>
          <p:cNvPr id="10" name="TextBox 9"/>
          <p:cNvSpPr txBox="1"/>
          <p:nvPr/>
        </p:nvSpPr>
        <p:spPr>
          <a:xfrm>
            <a:off x="6080760" y="5175504"/>
            <a:ext cx="2468880" cy="566928"/>
          </a:xfrm>
          <a:prstGeom prst="rect">
            <a:avLst/>
          </a:prstGeom>
          <a:noFill/>
        </p:spPr>
        <p:txBody>
          <a:bodyPr wrap="square" lIns="0" rIns="0" tIns="0" bIns="0" anchor="t">
            <a:noAutofit/>
          </a:bodyPr>
          <a:lstStyle/>
          <a:p>
            <a:pPr algn="ctr">
              <a:lnSpc>
                <a:spcPct val="95000"/>
              </a:lnSpc>
            </a:pPr>
            <a:r>
              <a:rPr sz="2700" b="1" i="0">
                <a:solidFill>
                  <a:srgbClr val="0E8074"/>
                </a:solidFill>
                <a:latin typeface="Arial"/>
              </a:rPr>
              <a:t>3 / 3</a:t>
            </a:r>
          </a:p>
        </p:txBody>
      </p:sp>
      <p:sp>
        <p:nvSpPr>
          <p:cNvPr id="11" name="TextBox 10"/>
          <p:cNvSpPr txBox="1"/>
          <p:nvPr/>
        </p:nvSpPr>
        <p:spPr>
          <a:xfrm>
            <a:off x="6080760" y="5742432"/>
            <a:ext cx="2468880" cy="658368"/>
          </a:xfrm>
          <a:prstGeom prst="rect">
            <a:avLst/>
          </a:prstGeom>
          <a:noFill/>
        </p:spPr>
        <p:txBody>
          <a:bodyPr wrap="square" lIns="0" rIns="0" tIns="0" bIns="0" anchor="t">
            <a:noAutofit/>
          </a:bodyPr>
          <a:lstStyle/>
          <a:p>
            <a:pPr algn="ctr">
              <a:lnSpc>
                <a:spcPct val="115000"/>
              </a:lnSpc>
            </a:pPr>
            <a:r>
              <a:rPr sz="1250" b="0" i="0">
                <a:solidFill>
                  <a:srgbClr val="708196"/>
                </a:solidFill>
                <a:latin typeface="Arial"/>
              </a:rPr>
              <a:t>synthetic seeds catch up
(by ~360–405 steps)</a:t>
            </a:r>
          </a:p>
        </p:txBody>
      </p:sp>
      <p:sp>
        <p:nvSpPr>
          <p:cNvPr id="12" name="TextBox 11"/>
          <p:cNvSpPr txBox="1"/>
          <p:nvPr/>
        </p:nvSpPr>
        <p:spPr>
          <a:xfrm>
            <a:off x="8732520" y="5175504"/>
            <a:ext cx="2560320" cy="566928"/>
          </a:xfrm>
          <a:prstGeom prst="rect">
            <a:avLst/>
          </a:prstGeom>
          <a:noFill/>
        </p:spPr>
        <p:txBody>
          <a:bodyPr wrap="square" lIns="0" rIns="0" tIns="0" bIns="0" anchor="t">
            <a:noAutofit/>
          </a:bodyPr>
          <a:lstStyle/>
          <a:p>
            <a:pPr algn="ctr">
              <a:lnSpc>
                <a:spcPct val="95000"/>
              </a:lnSpc>
            </a:pPr>
            <a:r>
              <a:rPr sz="2700" b="1" i="0">
                <a:solidFill>
                  <a:srgbClr val="C0392B"/>
                </a:solidFill>
                <a:latin typeface="Arial"/>
              </a:rPr>
              <a:t>1 / 3</a:t>
            </a:r>
          </a:p>
        </p:txBody>
      </p:sp>
      <p:sp>
        <p:nvSpPr>
          <p:cNvPr id="13" name="TextBox 12"/>
          <p:cNvSpPr txBox="1"/>
          <p:nvPr/>
        </p:nvSpPr>
        <p:spPr>
          <a:xfrm>
            <a:off x="8732520" y="5742432"/>
            <a:ext cx="2560320" cy="658368"/>
          </a:xfrm>
          <a:prstGeom prst="rect">
            <a:avLst/>
          </a:prstGeom>
          <a:noFill/>
        </p:spPr>
        <p:txBody>
          <a:bodyPr wrap="square" lIns="0" rIns="0" tIns="0" bIns="0" anchor="t">
            <a:noAutofit/>
          </a:bodyPr>
          <a:lstStyle/>
          <a:p>
            <a:pPr algn="ctr">
              <a:lnSpc>
                <a:spcPct val="115000"/>
              </a:lnSpc>
            </a:pPr>
            <a:r>
              <a:rPr sz="1250" b="0" i="0">
                <a:solidFill>
                  <a:srgbClr val="708196"/>
                </a:solidFill>
                <a:latin typeface="Arial"/>
              </a:rPr>
              <a:t>real-text seeds catch up
within 900 steps</a:t>
            </a:r>
          </a:p>
        </p:txBody>
      </p:sp>
      <p:sp>
        <p:nvSpPr>
          <p:cNvPr id="14" name="TextBox 13"/>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Results</a:t>
            </a:r>
          </a:p>
        </p:txBody>
      </p:sp>
      <p:sp>
        <p:nvSpPr>
          <p:cNvPr id="15" name="TextBox 14"/>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WE ATTACKED OUR OWN RESULT</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200" b="1" i="0">
                <a:solidFill>
                  <a:srgbClr val="16202E"/>
                </a:solidFill>
                <a:latin typeface="Arial"/>
              </a:rPr>
              <a:t>“LoRA was never meant for training from scratch.”</a:t>
            </a:r>
          </a:p>
        </p:txBody>
      </p:sp>
      <p:sp>
        <p:nvSpPr>
          <p:cNvPr id="5" name="TextBox 4"/>
          <p:cNvSpPr txBox="1"/>
          <p:nvPr/>
        </p:nvSpPr>
        <p:spPr>
          <a:xfrm>
            <a:off x="777240" y="1847088"/>
            <a:ext cx="10515600" cy="384048"/>
          </a:xfrm>
          <a:prstGeom prst="rect">
            <a:avLst/>
          </a:prstGeom>
          <a:noFill/>
        </p:spPr>
        <p:txBody>
          <a:bodyPr wrap="square" lIns="0" rIns="0" tIns="0" bIns="0" anchor="t">
            <a:noAutofit/>
          </a:bodyPr>
          <a:lstStyle/>
          <a:p>
            <a:pPr algn="l">
              <a:lnSpc>
                <a:spcPct val="100000"/>
              </a:lnSpc>
            </a:pPr>
            <a:r>
              <a:rPr sz="1550" b="0" i="0">
                <a:solidFill>
                  <a:srgbClr val="708196"/>
                </a:solidFill>
                <a:latin typeface="Arial"/>
              </a:rPr>
              <a:t>Pretrain on Shakespeare → adapt to Jane Austen. Same character vocabulary, genuinely different register.</a:t>
            </a:r>
          </a:p>
        </p:txBody>
      </p:sp>
      <p:pic>
        <p:nvPicPr>
          <p:cNvPr id="6" name="Picture 5" descr="fig_transfer.png"/>
          <p:cNvPicPr>
            <a:picLocks noChangeAspect="1"/>
          </p:cNvPicPr>
          <p:nvPr/>
        </p:nvPicPr>
        <p:blipFill>
          <a:blip r:embed="rId2"/>
          <a:stretch>
            <a:fillRect/>
          </a:stretch>
        </p:blipFill>
        <p:spPr>
          <a:xfrm>
            <a:off x="1783080" y="2286000"/>
            <a:ext cx="8613648" cy="3158338"/>
          </a:xfrm>
          <a:prstGeom prst="rect">
            <a:avLst/>
          </a:prstGeom>
        </p:spPr>
      </p:pic>
      <p:sp>
        <p:nvSpPr>
          <p:cNvPr id="7" name="Rectangle 6"/>
          <p:cNvSpPr/>
          <p:nvPr/>
        </p:nvSpPr>
        <p:spPr>
          <a:xfrm>
            <a:off x="777240" y="5541264"/>
            <a:ext cx="10515600" cy="694944"/>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5541264"/>
            <a:ext cx="10058400" cy="694944"/>
          </a:xfrm>
          <a:prstGeom prst="rect">
            <a:avLst/>
          </a:prstGeom>
          <a:noFill/>
        </p:spPr>
        <p:txBody>
          <a:bodyPr wrap="square" lIns="0" rIns="0" tIns="0" bIns="0" anchor="ctr">
            <a:noAutofit/>
          </a:bodyPr>
          <a:lstStyle/>
          <a:p>
            <a:pPr algn="l">
              <a:lnSpc>
                <a:spcPct val="120000"/>
              </a:lnSpc>
            </a:pPr>
            <a:r>
              <a:rPr sz="1550" b="0" i="0">
                <a:solidFill>
                  <a:srgbClr val="B9C6D8"/>
                </a:solidFill>
                <a:latin typeface="Arial"/>
              </a:rPr>
              <a:t>The objection was fair, and it did not save the method. LoRA's cost shrinks by 71% — to </a:t>
            </a:r>
            <a:r>
              <a:rPr sz="1550" b="1" i="0">
                <a:solidFill>
                  <a:srgbClr val="F0B429"/>
                </a:solidFill>
                <a:latin typeface="Arial"/>
              </a:rPr>
              <a:t>+0.082, still 3.7× the noise floor</a:t>
            </a:r>
            <a:r>
              <a:rPr sz="1550" b="0" i="0">
                <a:solidFill>
                  <a:srgbClr val="B9C6D8"/>
                </a:solidFill>
                <a:latin typeface="Arial"/>
              </a:rPr>
              <a:t>. Better is not free.</a:t>
            </a:r>
          </a:p>
        </p:txBody>
      </p:sp>
      <p:sp>
        <p:nvSpPr>
          <p:cNvPr id="9" name="TextBox 8"/>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Results</a:t>
            </a:r>
          </a:p>
        </p:txBody>
      </p:sp>
      <p:sp>
        <p:nvSpPr>
          <p:cNvPr id="10" name="TextBox 9"/>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F0B429"/>
                </a:solidFill>
                <a:latin typeface="Arial"/>
              </a:rPr>
              <a:t>CONTRIBUTION</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800" b="1" i="0">
                <a:solidFill>
                  <a:srgbClr val="FFFFFF"/>
                </a:solidFill>
                <a:latin typeface="Arial"/>
              </a:rPr>
              <a:t>Five things that did not exist before this study</a:t>
            </a:r>
          </a:p>
        </p:txBody>
      </p:sp>
      <p:sp>
        <p:nvSpPr>
          <p:cNvPr id="5" name="Rounded Rectangle 4"/>
          <p:cNvSpPr/>
          <p:nvPr/>
        </p:nvSpPr>
        <p:spPr>
          <a:xfrm>
            <a:off x="777240" y="1993392"/>
            <a:ext cx="402336" cy="402336"/>
          </a:xfrm>
          <a:prstGeom prst="roundRect">
            <a:avLst>
              <a:gd name="adj" fmla="val 35000"/>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993392"/>
            <a:ext cx="402336" cy="402336"/>
          </a:xfrm>
          <a:prstGeom prst="rect">
            <a:avLst/>
          </a:prstGeom>
          <a:noFill/>
        </p:spPr>
        <p:txBody>
          <a:bodyPr wrap="square" lIns="0" rIns="0" tIns="0" bIns="0" anchor="ctr">
            <a:noAutofit/>
          </a:bodyPr>
          <a:lstStyle/>
          <a:p>
            <a:pPr algn="ctr">
              <a:lnSpc>
                <a:spcPct val="100000"/>
              </a:lnSpc>
            </a:pPr>
            <a:r>
              <a:rPr sz="1500" b="1" i="0">
                <a:solidFill>
                  <a:srgbClr val="0F1B2D"/>
                </a:solidFill>
                <a:latin typeface="Arial"/>
              </a:rPr>
              <a:t>1</a:t>
            </a:r>
          </a:p>
        </p:txBody>
      </p:sp>
      <p:sp>
        <p:nvSpPr>
          <p:cNvPr id="7" name="TextBox 6"/>
          <p:cNvSpPr txBox="1"/>
          <p:nvPr/>
        </p:nvSpPr>
        <p:spPr>
          <a:xfrm>
            <a:off x="1389888" y="1975104"/>
            <a:ext cx="9692640" cy="502920"/>
          </a:xfrm>
          <a:prstGeom prst="rect">
            <a:avLst/>
          </a:prstGeom>
          <a:noFill/>
        </p:spPr>
        <p:txBody>
          <a:bodyPr wrap="square" lIns="0" rIns="0" tIns="0" bIns="0" anchor="t">
            <a:noAutofit/>
          </a:bodyPr>
          <a:lstStyle/>
          <a:p>
            <a:pPr algn="l">
              <a:lnSpc>
                <a:spcPct val="120000"/>
              </a:lnSpc>
            </a:pPr>
            <a:r>
              <a:rPr sz="1550" b="1" i="0">
                <a:solidFill>
                  <a:srgbClr val="FFFFFF"/>
                </a:solidFill>
                <a:latin typeface="Arial"/>
              </a:rPr>
              <a:t>The design  —  </a:t>
            </a:r>
            <a:r>
              <a:rPr sz="1550" b="0" i="0">
                <a:solidFill>
                  <a:srgbClr val="A9B9CD"/>
                </a:solidFill>
                <a:latin typeface="Arial"/>
              </a:rPr>
              <a:t>the first full 2³ factorial over curriculum × LoRA × distillation — all eight cells exist</a:t>
            </a:r>
          </a:p>
        </p:txBody>
      </p:sp>
      <p:sp>
        <p:nvSpPr>
          <p:cNvPr id="8" name="Rounded Rectangle 7"/>
          <p:cNvSpPr/>
          <p:nvPr/>
        </p:nvSpPr>
        <p:spPr>
          <a:xfrm>
            <a:off x="777240" y="2724912"/>
            <a:ext cx="402336" cy="402336"/>
          </a:xfrm>
          <a:prstGeom prst="roundRect">
            <a:avLst>
              <a:gd name="adj" fmla="val 35000"/>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724912"/>
            <a:ext cx="402336" cy="402336"/>
          </a:xfrm>
          <a:prstGeom prst="rect">
            <a:avLst/>
          </a:prstGeom>
          <a:noFill/>
        </p:spPr>
        <p:txBody>
          <a:bodyPr wrap="square" lIns="0" rIns="0" tIns="0" bIns="0" anchor="ctr">
            <a:noAutofit/>
          </a:bodyPr>
          <a:lstStyle/>
          <a:p>
            <a:pPr algn="ctr">
              <a:lnSpc>
                <a:spcPct val="100000"/>
              </a:lnSpc>
            </a:pPr>
            <a:r>
              <a:rPr sz="1500" b="1" i="0">
                <a:solidFill>
                  <a:srgbClr val="0F1B2D"/>
                </a:solidFill>
                <a:latin typeface="Arial"/>
              </a:rPr>
              <a:t>2</a:t>
            </a:r>
          </a:p>
        </p:txBody>
      </p:sp>
      <p:sp>
        <p:nvSpPr>
          <p:cNvPr id="10" name="TextBox 9"/>
          <p:cNvSpPr txBox="1"/>
          <p:nvPr/>
        </p:nvSpPr>
        <p:spPr>
          <a:xfrm>
            <a:off x="1389888" y="2706624"/>
            <a:ext cx="9692640" cy="502920"/>
          </a:xfrm>
          <a:prstGeom prst="rect">
            <a:avLst/>
          </a:prstGeom>
          <a:noFill/>
        </p:spPr>
        <p:txBody>
          <a:bodyPr wrap="square" lIns="0" rIns="0" tIns="0" bIns="0" anchor="t">
            <a:noAutofit/>
          </a:bodyPr>
          <a:lstStyle/>
          <a:p>
            <a:pPr algn="l">
              <a:lnSpc>
                <a:spcPct val="120000"/>
              </a:lnSpc>
            </a:pPr>
            <a:r>
              <a:rPr sz="1550" b="1" i="0">
                <a:solidFill>
                  <a:srgbClr val="FFFFFF"/>
                </a:solidFill>
                <a:latin typeface="Arial"/>
              </a:rPr>
              <a:t>The number  —  </a:t>
            </a:r>
            <a:r>
              <a:rPr sz="1550" b="0" i="0">
                <a:solidFill>
                  <a:srgbClr val="A9B9CD"/>
                </a:solidFill>
                <a:latin typeface="Arial"/>
              </a:rPr>
              <a:t>the composition gap, defined and measured: −0.0003 / +0.0008 nats</a:t>
            </a:r>
          </a:p>
        </p:txBody>
      </p:sp>
      <p:sp>
        <p:nvSpPr>
          <p:cNvPr id="11" name="Rounded Rectangle 10"/>
          <p:cNvSpPr/>
          <p:nvPr/>
        </p:nvSpPr>
        <p:spPr>
          <a:xfrm>
            <a:off x="777240" y="3456432"/>
            <a:ext cx="402336" cy="402336"/>
          </a:xfrm>
          <a:prstGeom prst="roundRect">
            <a:avLst>
              <a:gd name="adj" fmla="val 35000"/>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456432"/>
            <a:ext cx="402336" cy="402336"/>
          </a:xfrm>
          <a:prstGeom prst="rect">
            <a:avLst/>
          </a:prstGeom>
          <a:noFill/>
        </p:spPr>
        <p:txBody>
          <a:bodyPr wrap="square" lIns="0" rIns="0" tIns="0" bIns="0" anchor="ctr">
            <a:noAutofit/>
          </a:bodyPr>
          <a:lstStyle/>
          <a:p>
            <a:pPr algn="ctr">
              <a:lnSpc>
                <a:spcPct val="100000"/>
              </a:lnSpc>
            </a:pPr>
            <a:r>
              <a:rPr sz="1500" b="1" i="0">
                <a:solidFill>
                  <a:srgbClr val="0F1B2D"/>
                </a:solidFill>
                <a:latin typeface="Arial"/>
              </a:rPr>
              <a:t>3</a:t>
            </a:r>
          </a:p>
        </p:txBody>
      </p:sp>
      <p:sp>
        <p:nvSpPr>
          <p:cNvPr id="13" name="TextBox 12"/>
          <p:cNvSpPr txBox="1"/>
          <p:nvPr/>
        </p:nvSpPr>
        <p:spPr>
          <a:xfrm>
            <a:off x="1389888" y="3438144"/>
            <a:ext cx="9692640" cy="502920"/>
          </a:xfrm>
          <a:prstGeom prst="rect">
            <a:avLst/>
          </a:prstGeom>
          <a:noFill/>
        </p:spPr>
        <p:txBody>
          <a:bodyPr wrap="square" lIns="0" rIns="0" tIns="0" bIns="0" anchor="t">
            <a:noAutofit/>
          </a:bodyPr>
          <a:lstStyle/>
          <a:p>
            <a:pPr algn="l">
              <a:lnSpc>
                <a:spcPct val="120000"/>
              </a:lnSpc>
            </a:pPr>
            <a:r>
              <a:rPr sz="1550" b="1" i="0">
                <a:solidFill>
                  <a:srgbClr val="FFFFFF"/>
                </a:solidFill>
                <a:latin typeface="Arial"/>
              </a:rPr>
              <a:t>The price list  —  </a:t>
            </a:r>
            <a:r>
              <a:rPr sz="1550" b="0" i="0">
                <a:solidFill>
                  <a:srgbClr val="A9B9CD"/>
                </a:solidFill>
                <a:latin typeface="Arial"/>
              </a:rPr>
              <a:t>each component's effect published against its own noise floor, so you can tell a result from seed luck</a:t>
            </a:r>
          </a:p>
        </p:txBody>
      </p:sp>
      <p:sp>
        <p:nvSpPr>
          <p:cNvPr id="14" name="Rounded Rectangle 13"/>
          <p:cNvSpPr/>
          <p:nvPr/>
        </p:nvSpPr>
        <p:spPr>
          <a:xfrm>
            <a:off x="777240" y="4187952"/>
            <a:ext cx="402336" cy="402336"/>
          </a:xfrm>
          <a:prstGeom prst="roundRect">
            <a:avLst>
              <a:gd name="adj" fmla="val 35000"/>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187952"/>
            <a:ext cx="402336" cy="402336"/>
          </a:xfrm>
          <a:prstGeom prst="rect">
            <a:avLst/>
          </a:prstGeom>
          <a:noFill/>
        </p:spPr>
        <p:txBody>
          <a:bodyPr wrap="square" lIns="0" rIns="0" tIns="0" bIns="0" anchor="ctr">
            <a:noAutofit/>
          </a:bodyPr>
          <a:lstStyle/>
          <a:p>
            <a:pPr algn="ctr">
              <a:lnSpc>
                <a:spcPct val="100000"/>
              </a:lnSpc>
            </a:pPr>
            <a:r>
              <a:rPr sz="1500" b="1" i="0">
                <a:solidFill>
                  <a:srgbClr val="0F1B2D"/>
                </a:solidFill>
                <a:latin typeface="Arial"/>
              </a:rPr>
              <a:t>4</a:t>
            </a:r>
          </a:p>
        </p:txBody>
      </p:sp>
      <p:sp>
        <p:nvSpPr>
          <p:cNvPr id="16" name="TextBox 15"/>
          <p:cNvSpPr txBox="1"/>
          <p:nvPr/>
        </p:nvSpPr>
        <p:spPr>
          <a:xfrm>
            <a:off x="1389888" y="4169664"/>
            <a:ext cx="9692640" cy="502920"/>
          </a:xfrm>
          <a:prstGeom prst="rect">
            <a:avLst/>
          </a:prstGeom>
          <a:noFill/>
        </p:spPr>
        <p:txBody>
          <a:bodyPr wrap="square" lIns="0" rIns="0" tIns="0" bIns="0" anchor="t">
            <a:noAutofit/>
          </a:bodyPr>
          <a:lstStyle/>
          <a:p>
            <a:pPr algn="l">
              <a:lnSpc>
                <a:spcPct val="120000"/>
              </a:lnSpc>
            </a:pPr>
            <a:r>
              <a:rPr sz="1550" b="1" i="0">
                <a:solidFill>
                  <a:srgbClr val="FFFFFF"/>
                </a:solidFill>
                <a:latin typeface="Arial"/>
              </a:rPr>
              <a:t>The reporting  —  </a:t>
            </a:r>
            <a:r>
              <a:rPr sz="1550" b="0" i="0">
                <a:solidFill>
                  <a:srgbClr val="A9B9CD"/>
                </a:solidFill>
                <a:latin typeface="Arial"/>
              </a:rPr>
              <a:t>equal-wall-clock alongside equal-step, because that is the budget practitioners actually have</a:t>
            </a:r>
          </a:p>
        </p:txBody>
      </p:sp>
      <p:sp>
        <p:nvSpPr>
          <p:cNvPr id="17" name="Rounded Rectangle 16"/>
          <p:cNvSpPr/>
          <p:nvPr/>
        </p:nvSpPr>
        <p:spPr>
          <a:xfrm>
            <a:off x="777240" y="4919472"/>
            <a:ext cx="402336" cy="402336"/>
          </a:xfrm>
          <a:prstGeom prst="roundRect">
            <a:avLst>
              <a:gd name="adj" fmla="val 35000"/>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919472"/>
            <a:ext cx="402336" cy="402336"/>
          </a:xfrm>
          <a:prstGeom prst="rect">
            <a:avLst/>
          </a:prstGeom>
          <a:noFill/>
        </p:spPr>
        <p:txBody>
          <a:bodyPr wrap="square" lIns="0" rIns="0" tIns="0" bIns="0" anchor="ctr">
            <a:noAutofit/>
          </a:bodyPr>
          <a:lstStyle/>
          <a:p>
            <a:pPr algn="ctr">
              <a:lnSpc>
                <a:spcPct val="100000"/>
              </a:lnSpc>
            </a:pPr>
            <a:r>
              <a:rPr sz="1500" b="1" i="0">
                <a:solidFill>
                  <a:srgbClr val="0F1B2D"/>
                </a:solidFill>
                <a:latin typeface="Arial"/>
              </a:rPr>
              <a:t>5</a:t>
            </a:r>
          </a:p>
        </p:txBody>
      </p:sp>
      <p:sp>
        <p:nvSpPr>
          <p:cNvPr id="19" name="TextBox 18"/>
          <p:cNvSpPr txBox="1"/>
          <p:nvPr/>
        </p:nvSpPr>
        <p:spPr>
          <a:xfrm>
            <a:off x="1389888" y="4901184"/>
            <a:ext cx="9692640" cy="502920"/>
          </a:xfrm>
          <a:prstGeom prst="rect">
            <a:avLst/>
          </a:prstGeom>
          <a:noFill/>
        </p:spPr>
        <p:txBody>
          <a:bodyPr wrap="square" lIns="0" rIns="0" tIns="0" bIns="0" anchor="t">
            <a:noAutofit/>
          </a:bodyPr>
          <a:lstStyle/>
          <a:p>
            <a:pPr algn="l">
              <a:lnSpc>
                <a:spcPct val="120000"/>
              </a:lnSpc>
            </a:pPr>
            <a:r>
              <a:rPr sz="1550" b="1" i="0">
                <a:solidFill>
                  <a:srgbClr val="FFFFFF"/>
                </a:solidFill>
                <a:latin typeface="Arial"/>
              </a:rPr>
              <a:t>A clean negative  —  </a:t>
            </a:r>
            <a:r>
              <a:rPr sz="1550" b="0" i="0">
                <a:solidFill>
                  <a:srgbClr val="A9B9CD"/>
                </a:solidFill>
                <a:latin typeface="Arial"/>
              </a:rPr>
              <a:t>with a mechanism — plus assert_lora_live, reusable by any paper that touches LoRA</a:t>
            </a:r>
          </a:p>
        </p:txBody>
      </p:sp>
      <p:sp>
        <p:nvSpPr>
          <p:cNvPr id="20" name="Rectangle 19"/>
          <p:cNvSpPr/>
          <p:nvPr/>
        </p:nvSpPr>
        <p:spPr>
          <a:xfrm>
            <a:off x="777240" y="5559552"/>
            <a:ext cx="10515600" cy="640080"/>
          </a:xfrm>
          <a:prstGeom prst="rect">
            <a:avLst/>
          </a:prstGeom>
          <a:solidFill>
            <a:srgbClr val="1B2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5559552"/>
            <a:ext cx="10058400" cy="640080"/>
          </a:xfrm>
          <a:prstGeom prst="rect">
            <a:avLst/>
          </a:prstGeom>
          <a:noFill/>
        </p:spPr>
        <p:txBody>
          <a:bodyPr wrap="square" lIns="0" rIns="0" tIns="0" bIns="0" anchor="ctr">
            <a:noAutofit/>
          </a:bodyPr>
          <a:lstStyle/>
          <a:p>
            <a:pPr algn="l">
              <a:lnSpc>
                <a:spcPct val="100000"/>
              </a:lnSpc>
            </a:pPr>
            <a:r>
              <a:rPr sz="1550" b="1" i="0">
                <a:solidFill>
                  <a:srgbClr val="F0B429"/>
                </a:solidFill>
                <a:latin typeface="Arial"/>
              </a:rPr>
              <a:t>The machinery is technique-agnostic. Swap in QLoRA, DoRA or data pruning and nothing but the flags changes.</a:t>
            </a:r>
          </a:p>
        </p:txBody>
      </p:sp>
      <p:sp>
        <p:nvSpPr>
          <p:cNvPr id="22" name="TextBox 21"/>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53627A"/>
                </a:solidFill>
                <a:latin typeface="Arial"/>
              </a:rPr>
              <a:t>Contribution</a:t>
            </a:r>
          </a:p>
        </p:txBody>
      </p:sp>
      <p:sp>
        <p:nvSpPr>
          <p:cNvPr id="23" name="TextBox 22"/>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53627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HONEST LIMITATIONS</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800" b="1" i="0">
                <a:solidFill>
                  <a:srgbClr val="16202E"/>
                </a:solidFill>
                <a:latin typeface="Arial"/>
              </a:rPr>
              <a:t>Where this result stops being true</a:t>
            </a:r>
          </a:p>
        </p:txBody>
      </p:sp>
      <p:sp>
        <p:nvSpPr>
          <p:cNvPr id="5" name="Oval 4"/>
          <p:cNvSpPr/>
          <p:nvPr/>
        </p:nvSpPr>
        <p:spPr>
          <a:xfrm>
            <a:off x="777240" y="2253996"/>
            <a:ext cx="96012" cy="960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2148840"/>
            <a:ext cx="4736592" cy="914400"/>
          </a:xfrm>
          <a:prstGeom prst="rect">
            <a:avLst/>
          </a:prstGeom>
          <a:noFill/>
        </p:spPr>
        <p:txBody>
          <a:bodyPr wrap="square" lIns="0" rIns="0" tIns="0" bIns="0" anchor="t">
            <a:noAutofit/>
          </a:bodyPr>
          <a:lstStyle/>
          <a:p>
            <a:pPr algn="l">
              <a:lnSpc>
                <a:spcPct val="118000"/>
              </a:lnSpc>
            </a:pPr>
            <a:r>
              <a:rPr sz="1550" b="0" i="0">
                <a:solidFill>
                  <a:srgbClr val="334155"/>
                </a:solidFill>
                <a:latin typeface="Arial"/>
              </a:rPr>
              <a:t>82K parameters, 300 steps, character-level — a laboratory, not production.</a:t>
            </a:r>
          </a:p>
        </p:txBody>
      </p:sp>
      <p:sp>
        <p:nvSpPr>
          <p:cNvPr id="7" name="Oval 6"/>
          <p:cNvSpPr/>
          <p:nvPr/>
        </p:nvSpPr>
        <p:spPr>
          <a:xfrm>
            <a:off x="777240" y="3214116"/>
            <a:ext cx="96012" cy="960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3108960"/>
            <a:ext cx="4736592" cy="914400"/>
          </a:xfrm>
          <a:prstGeom prst="rect">
            <a:avLst/>
          </a:prstGeom>
          <a:noFill/>
        </p:spPr>
        <p:txBody>
          <a:bodyPr wrap="square" lIns="0" rIns="0" tIns="0" bIns="0" anchor="t">
            <a:noAutofit/>
          </a:bodyPr>
          <a:lstStyle/>
          <a:p>
            <a:pPr algn="l">
              <a:lnSpc>
                <a:spcPct val="118000"/>
              </a:lnSpc>
            </a:pPr>
            <a:r>
              <a:rPr sz="1550" b="0" i="0">
                <a:solidFill>
                  <a:srgbClr val="334155"/>
                </a:solidFill>
                <a:latin typeface="Arial"/>
              </a:rPr>
              <a:t>Everything trained from scratch. LoRA is measured outside the regime it was designed for.</a:t>
            </a:r>
          </a:p>
        </p:txBody>
      </p:sp>
      <p:sp>
        <p:nvSpPr>
          <p:cNvPr id="9" name="Oval 8"/>
          <p:cNvSpPr/>
          <p:nvPr/>
        </p:nvSpPr>
        <p:spPr>
          <a:xfrm>
            <a:off x="777240" y="4174236"/>
            <a:ext cx="96012" cy="960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4069080"/>
            <a:ext cx="4736592" cy="914400"/>
          </a:xfrm>
          <a:prstGeom prst="rect">
            <a:avLst/>
          </a:prstGeom>
          <a:noFill/>
        </p:spPr>
        <p:txBody>
          <a:bodyPr wrap="square" lIns="0" rIns="0" tIns="0" bIns="0" anchor="t">
            <a:noAutofit/>
          </a:bodyPr>
          <a:lstStyle/>
          <a:p>
            <a:pPr algn="l">
              <a:lnSpc>
                <a:spcPct val="118000"/>
              </a:lnSpc>
            </a:pPr>
            <a:r>
              <a:rPr sz="1550" b="0" i="0">
                <a:solidFill>
                  <a:srgbClr val="334155"/>
                </a:solidFill>
                <a:latin typeface="Arial"/>
              </a:rPr>
              <a:t>Three seeds. Enough for a noise floor, not for a p-value.</a:t>
            </a:r>
          </a:p>
        </p:txBody>
      </p:sp>
      <p:sp>
        <p:nvSpPr>
          <p:cNvPr id="11" name="Oval 10"/>
          <p:cNvSpPr/>
          <p:nvPr/>
        </p:nvSpPr>
        <p:spPr>
          <a:xfrm>
            <a:off x="6263640" y="2253996"/>
            <a:ext cx="96012" cy="960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148840"/>
            <a:ext cx="4736592" cy="914400"/>
          </a:xfrm>
          <a:prstGeom prst="rect">
            <a:avLst/>
          </a:prstGeom>
          <a:noFill/>
        </p:spPr>
        <p:txBody>
          <a:bodyPr wrap="square" lIns="0" rIns="0" tIns="0" bIns="0" anchor="t">
            <a:noAutofit/>
          </a:bodyPr>
          <a:lstStyle/>
          <a:p>
            <a:pPr algn="l">
              <a:lnSpc>
                <a:spcPct val="118000"/>
              </a:lnSpc>
            </a:pPr>
            <a:r>
              <a:rPr sz="1550" b="0" i="0">
                <a:solidFill>
                  <a:srgbClr val="334155"/>
                </a:solidFill>
                <a:latin typeface="Arial"/>
              </a:rPr>
              <a:t>Two benchmarks, one of them synthetic and one of them 1.1 MB of Shakespeare.</a:t>
            </a:r>
          </a:p>
        </p:txBody>
      </p:sp>
      <p:sp>
        <p:nvSpPr>
          <p:cNvPr id="13" name="Oval 12"/>
          <p:cNvSpPr/>
          <p:nvPr/>
        </p:nvSpPr>
        <p:spPr>
          <a:xfrm>
            <a:off x="6263640" y="3214116"/>
            <a:ext cx="96012" cy="960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3108960"/>
            <a:ext cx="4736592" cy="914400"/>
          </a:xfrm>
          <a:prstGeom prst="rect">
            <a:avLst/>
          </a:prstGeom>
          <a:noFill/>
        </p:spPr>
        <p:txBody>
          <a:bodyPr wrap="square" lIns="0" rIns="0" tIns="0" bIns="0" anchor="t">
            <a:noAutofit/>
          </a:bodyPr>
          <a:lstStyle/>
          <a:p>
            <a:pPr algn="l">
              <a:lnSpc>
                <a:spcPct val="118000"/>
              </a:lnSpc>
            </a:pPr>
            <a:r>
              <a:rPr sz="1550" b="0" i="0">
                <a:solidFill>
                  <a:srgbClr val="334155"/>
                </a:solidFill>
                <a:latin typeface="Arial"/>
              </a:rPr>
              <a:t>The curriculum's difficulty score is weak on real text — part of why that effect vanishes.</a:t>
            </a:r>
          </a:p>
        </p:txBody>
      </p:sp>
      <p:sp>
        <p:nvSpPr>
          <p:cNvPr id="15" name="Oval 14"/>
          <p:cNvSpPr/>
          <p:nvPr/>
        </p:nvSpPr>
        <p:spPr>
          <a:xfrm>
            <a:off x="6263640" y="4174236"/>
            <a:ext cx="96012" cy="96012"/>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56248" y="4069080"/>
            <a:ext cx="4736592" cy="914400"/>
          </a:xfrm>
          <a:prstGeom prst="rect">
            <a:avLst/>
          </a:prstGeom>
          <a:noFill/>
        </p:spPr>
        <p:txBody>
          <a:bodyPr wrap="square" lIns="0" rIns="0" tIns="0" bIns="0" anchor="t">
            <a:noAutofit/>
          </a:bodyPr>
          <a:lstStyle/>
          <a:p>
            <a:pPr algn="l">
              <a:lnSpc>
                <a:spcPct val="118000"/>
              </a:lnSpc>
            </a:pPr>
            <a:r>
              <a:rPr sz="1550" b="0" i="0">
                <a:solidFill>
                  <a:srgbClr val="334155"/>
                </a:solidFill>
                <a:latin typeface="Arial"/>
              </a:rPr>
              <a:t>Additivity is established here. Nobody has shown it holds at scale.</a:t>
            </a:r>
          </a:p>
        </p:txBody>
      </p:sp>
      <p:sp>
        <p:nvSpPr>
          <p:cNvPr id="17" name="Rectangle 16"/>
          <p:cNvSpPr/>
          <p:nvPr/>
        </p:nvSpPr>
        <p:spPr>
          <a:xfrm>
            <a:off x="777240" y="5257800"/>
            <a:ext cx="10515600" cy="86868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5257800"/>
            <a:ext cx="10058400" cy="868680"/>
          </a:xfrm>
          <a:prstGeom prst="rect">
            <a:avLst/>
          </a:prstGeom>
          <a:noFill/>
        </p:spPr>
        <p:txBody>
          <a:bodyPr wrap="square" lIns="0" rIns="0" tIns="0" bIns="0" anchor="ctr">
            <a:noAutofit/>
          </a:bodyPr>
          <a:lstStyle/>
          <a:p>
            <a:pPr algn="l">
              <a:lnSpc>
                <a:spcPct val="120000"/>
              </a:lnSpc>
            </a:pPr>
            <a:r>
              <a:rPr sz="1550" b="0" i="0">
                <a:solidFill>
                  <a:srgbClr val="16202E"/>
                </a:solidFill>
                <a:latin typeface="Arial"/>
              </a:rPr>
              <a:t>I would rather draw the boundary myself than have you find it. Every one of these is a next experiment, and the codebase already supports them.</a:t>
            </a:r>
          </a:p>
        </p:txBody>
      </p:sp>
      <p:sp>
        <p:nvSpPr>
          <p:cNvPr id="19" name="TextBox 18"/>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Discussion</a:t>
            </a:r>
          </a:p>
        </p:txBody>
      </p:sp>
      <p:sp>
        <p:nvSpPr>
          <p:cNvPr id="20" name="TextBox 19"/>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708196"/>
                </a:solidFill>
                <a:latin typeface="Arial"/>
              </a:rPr>
              <a:t>CONCLUSION</a:t>
            </a:r>
          </a:p>
        </p:txBody>
      </p:sp>
      <p:sp>
        <p:nvSpPr>
          <p:cNvPr id="4" name="TextBox 3"/>
          <p:cNvSpPr txBox="1"/>
          <p:nvPr/>
        </p:nvSpPr>
        <p:spPr>
          <a:xfrm>
            <a:off x="777240" y="932688"/>
            <a:ext cx="10607040" cy="1097280"/>
          </a:xfrm>
          <a:prstGeom prst="rect">
            <a:avLst/>
          </a:prstGeom>
          <a:noFill/>
        </p:spPr>
        <p:txBody>
          <a:bodyPr wrap="square" lIns="0" rIns="0" tIns="0" bIns="0" anchor="t">
            <a:noAutofit/>
          </a:bodyPr>
          <a:lstStyle/>
          <a:p>
            <a:pPr algn="l">
              <a:lnSpc>
                <a:spcPct val="103000"/>
              </a:lnSpc>
            </a:pPr>
            <a:r>
              <a:rPr sz="3600" b="1" i="0">
                <a:solidFill>
                  <a:srgbClr val="16202E"/>
                </a:solidFill>
                <a:latin typeface="Arial"/>
              </a:rPr>
              <a:t>What I'd tell a practitioner on Monday</a:t>
            </a:r>
          </a:p>
        </p:txBody>
      </p:sp>
      <p:sp>
        <p:nvSpPr>
          <p:cNvPr id="5" name="Rectangle 4"/>
          <p:cNvSpPr/>
          <p:nvPr/>
        </p:nvSpPr>
        <p:spPr>
          <a:xfrm>
            <a:off x="777240" y="2011680"/>
            <a:ext cx="10515600" cy="8595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77240" y="2011680"/>
            <a:ext cx="68580" cy="859536"/>
          </a:xfrm>
          <a:prstGeom prst="rect">
            <a:avLst/>
          </a:prstGeom>
          <a:solidFill>
            <a:srgbClr val="0E8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011680"/>
            <a:ext cx="4572000" cy="859536"/>
          </a:xfrm>
          <a:prstGeom prst="rect">
            <a:avLst/>
          </a:prstGeom>
          <a:noFill/>
        </p:spPr>
        <p:txBody>
          <a:bodyPr wrap="square" lIns="0" rIns="0" tIns="0" bIns="0" anchor="ctr">
            <a:noAutofit/>
          </a:bodyPr>
          <a:lstStyle/>
          <a:p>
            <a:pPr algn="l">
              <a:lnSpc>
                <a:spcPct val="100000"/>
              </a:lnSpc>
            </a:pPr>
            <a:r>
              <a:rPr sz="1650" b="1" i="0">
                <a:solidFill>
                  <a:srgbClr val="16202E"/>
                </a:solidFill>
                <a:latin typeface="Arial"/>
              </a:rPr>
              <a:t>They add up. So stop running combinations.</a:t>
            </a:r>
          </a:p>
        </p:txBody>
      </p:sp>
      <p:sp>
        <p:nvSpPr>
          <p:cNvPr id="8" name="TextBox 7"/>
          <p:cNvSpPr txBox="1"/>
          <p:nvPr/>
        </p:nvSpPr>
        <p:spPr>
          <a:xfrm>
            <a:off x="5806440" y="2011680"/>
            <a:ext cx="5349240" cy="859536"/>
          </a:xfrm>
          <a:prstGeom prst="rect">
            <a:avLst/>
          </a:prstGeom>
          <a:noFill/>
        </p:spPr>
        <p:txBody>
          <a:bodyPr wrap="square" lIns="0" rIns="0" tIns="0" bIns="0" anchor="ctr">
            <a:noAutofit/>
          </a:bodyPr>
          <a:lstStyle/>
          <a:p>
            <a:pPr algn="l">
              <a:lnSpc>
                <a:spcPct val="120000"/>
              </a:lnSpc>
            </a:pPr>
            <a:r>
              <a:rPr sz="1350" b="0" i="0">
                <a:solidFill>
                  <a:srgbClr val="334155"/>
                </a:solidFill>
                <a:latin typeface="Arial"/>
              </a:rPr>
              <a:t>If effects are additive you can predict any of the eight cells from three single-factor runs. A combinatorial budget becomes a linear one.</a:t>
            </a:r>
          </a:p>
        </p:txBody>
      </p:sp>
      <p:sp>
        <p:nvSpPr>
          <p:cNvPr id="9" name="Rectangle 8"/>
          <p:cNvSpPr/>
          <p:nvPr/>
        </p:nvSpPr>
        <p:spPr>
          <a:xfrm>
            <a:off x="777240" y="2926080"/>
            <a:ext cx="10515600" cy="8595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926080"/>
            <a:ext cx="68580" cy="859536"/>
          </a:xfrm>
          <a:prstGeom prst="rect">
            <a:avLst/>
          </a:prstGeom>
          <a:solidFill>
            <a:srgbClr val="0E80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926080"/>
            <a:ext cx="4572000" cy="859536"/>
          </a:xfrm>
          <a:prstGeom prst="rect">
            <a:avLst/>
          </a:prstGeom>
          <a:noFill/>
        </p:spPr>
        <p:txBody>
          <a:bodyPr wrap="square" lIns="0" rIns="0" tIns="0" bIns="0" anchor="ctr">
            <a:noAutofit/>
          </a:bodyPr>
          <a:lstStyle/>
          <a:p>
            <a:pPr algn="l">
              <a:lnSpc>
                <a:spcPct val="100000"/>
              </a:lnSpc>
            </a:pPr>
            <a:r>
              <a:rPr sz="1650" b="1" i="0">
                <a:solidFill>
                  <a:srgbClr val="16202E"/>
                </a:solidFill>
                <a:latin typeface="Arial"/>
              </a:rPr>
              <a:t>Keep distillation.</a:t>
            </a:r>
          </a:p>
        </p:txBody>
      </p:sp>
      <p:sp>
        <p:nvSpPr>
          <p:cNvPr id="12" name="TextBox 11"/>
          <p:cNvSpPr txBox="1"/>
          <p:nvPr/>
        </p:nvSpPr>
        <p:spPr>
          <a:xfrm>
            <a:off x="5806440" y="2926080"/>
            <a:ext cx="5349240" cy="859536"/>
          </a:xfrm>
          <a:prstGeom prst="rect">
            <a:avLst/>
          </a:prstGeom>
          <a:noFill/>
        </p:spPr>
        <p:txBody>
          <a:bodyPr wrap="square" lIns="0" rIns="0" tIns="0" bIns="0" anchor="ctr">
            <a:noAutofit/>
          </a:bodyPr>
          <a:lstStyle/>
          <a:p>
            <a:pPr algn="l">
              <a:lnSpc>
                <a:spcPct val="120000"/>
              </a:lnSpc>
            </a:pPr>
            <a:r>
              <a:rPr sz="1350" b="0" i="0">
                <a:solidFill>
                  <a:srgbClr val="334155"/>
                </a:solidFill>
                <a:latin typeface="Arial"/>
              </a:rPr>
              <a:t>The only component that helped on both benchmarks — if you can afford the teacher's compute.</a:t>
            </a:r>
          </a:p>
        </p:txBody>
      </p:sp>
      <p:sp>
        <p:nvSpPr>
          <p:cNvPr id="13" name="Rectangle 12"/>
          <p:cNvSpPr/>
          <p:nvPr/>
        </p:nvSpPr>
        <p:spPr>
          <a:xfrm>
            <a:off x="777240" y="3840480"/>
            <a:ext cx="10515600" cy="8595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 y="3840480"/>
            <a:ext cx="68580" cy="859536"/>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840480"/>
            <a:ext cx="4572000" cy="859536"/>
          </a:xfrm>
          <a:prstGeom prst="rect">
            <a:avLst/>
          </a:prstGeom>
          <a:noFill/>
        </p:spPr>
        <p:txBody>
          <a:bodyPr wrap="square" lIns="0" rIns="0" tIns="0" bIns="0" anchor="ctr">
            <a:noAutofit/>
          </a:bodyPr>
          <a:lstStyle/>
          <a:p>
            <a:pPr algn="l">
              <a:lnSpc>
                <a:spcPct val="100000"/>
              </a:lnSpc>
            </a:pPr>
            <a:r>
              <a:rPr sz="1650" b="1" i="0">
                <a:solidFill>
                  <a:srgbClr val="16202E"/>
                </a:solidFill>
                <a:latin typeface="Arial"/>
              </a:rPr>
              <a:t>Use LoRA for memory, not for loss.</a:t>
            </a:r>
          </a:p>
        </p:txBody>
      </p:sp>
      <p:sp>
        <p:nvSpPr>
          <p:cNvPr id="16" name="TextBox 15"/>
          <p:cNvSpPr txBox="1"/>
          <p:nvPr/>
        </p:nvSpPr>
        <p:spPr>
          <a:xfrm>
            <a:off x="5806440" y="3840480"/>
            <a:ext cx="5349240" cy="859536"/>
          </a:xfrm>
          <a:prstGeom prst="rect">
            <a:avLst/>
          </a:prstGeom>
          <a:noFill/>
        </p:spPr>
        <p:txBody>
          <a:bodyPr wrap="square" lIns="0" rIns="0" tIns="0" bIns="0" anchor="ctr">
            <a:noAutofit/>
          </a:bodyPr>
          <a:lstStyle/>
          <a:p>
            <a:pPr algn="l">
              <a:lnSpc>
                <a:spcPct val="120000"/>
              </a:lnSpc>
            </a:pPr>
            <a:r>
              <a:rPr sz="1350" b="0" i="0">
                <a:solidFill>
                  <a:srgbClr val="334155"/>
                </a:solidFill>
                <a:latin typeface="Arial"/>
              </a:rPr>
              <a:t>And only on a pretrained backbone, where its price drops by 71% instead of dominating everything.</a:t>
            </a:r>
          </a:p>
        </p:txBody>
      </p:sp>
      <p:sp>
        <p:nvSpPr>
          <p:cNvPr id="17" name="Rectangle 16"/>
          <p:cNvSpPr/>
          <p:nvPr/>
        </p:nvSpPr>
        <p:spPr>
          <a:xfrm>
            <a:off x="777240" y="4754880"/>
            <a:ext cx="10515600" cy="8595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754880"/>
            <a:ext cx="68580" cy="859536"/>
          </a:xfrm>
          <a:prstGeom prst="rect">
            <a:avLst/>
          </a:prstGeom>
          <a:solidFill>
            <a:srgbClr val="E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754880"/>
            <a:ext cx="4572000" cy="859536"/>
          </a:xfrm>
          <a:prstGeom prst="rect">
            <a:avLst/>
          </a:prstGeom>
          <a:noFill/>
        </p:spPr>
        <p:txBody>
          <a:bodyPr wrap="square" lIns="0" rIns="0" tIns="0" bIns="0" anchor="ctr">
            <a:noAutofit/>
          </a:bodyPr>
          <a:lstStyle/>
          <a:p>
            <a:pPr algn="l">
              <a:lnSpc>
                <a:spcPct val="100000"/>
              </a:lnSpc>
            </a:pPr>
            <a:r>
              <a:rPr sz="1650" b="1" i="0">
                <a:solidFill>
                  <a:srgbClr val="16202E"/>
                </a:solidFill>
                <a:latin typeface="Arial"/>
              </a:rPr>
              <a:t>Don't pay for a curriculum you can't measure.</a:t>
            </a:r>
          </a:p>
        </p:txBody>
      </p:sp>
      <p:sp>
        <p:nvSpPr>
          <p:cNvPr id="20" name="TextBox 19"/>
          <p:cNvSpPr txBox="1"/>
          <p:nvPr/>
        </p:nvSpPr>
        <p:spPr>
          <a:xfrm>
            <a:off x="5806440" y="4754880"/>
            <a:ext cx="5349240" cy="859536"/>
          </a:xfrm>
          <a:prstGeom prst="rect">
            <a:avLst/>
          </a:prstGeom>
          <a:noFill/>
        </p:spPr>
        <p:txBody>
          <a:bodyPr wrap="square" lIns="0" rIns="0" tIns="0" bIns="0" anchor="ctr">
            <a:noAutofit/>
          </a:bodyPr>
          <a:lstStyle/>
          <a:p>
            <a:pPr algn="l">
              <a:lnSpc>
                <a:spcPct val="120000"/>
              </a:lnSpc>
            </a:pPr>
            <a:r>
              <a:rPr sz="1350" b="0" i="0">
                <a:solidFill>
                  <a:srgbClr val="334155"/>
                </a:solidFill>
                <a:latin typeface="Arial"/>
              </a:rPr>
              <a:t>Ordering data helped nothing here, and the difficulty score is the prime suspect.</a:t>
            </a:r>
          </a:p>
        </p:txBody>
      </p:sp>
      <p:sp>
        <p:nvSpPr>
          <p:cNvPr id="21" name="Rectangle 20"/>
          <p:cNvSpPr/>
          <p:nvPr/>
        </p:nvSpPr>
        <p:spPr>
          <a:xfrm>
            <a:off x="777240" y="5779008"/>
            <a:ext cx="10515600" cy="18288"/>
          </a:xfrm>
          <a:prstGeom prst="rect">
            <a:avLst/>
          </a:prstGeom>
          <a:solidFill>
            <a:srgbClr val="16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897880"/>
            <a:ext cx="10515600" cy="457200"/>
          </a:xfrm>
          <a:prstGeom prst="rect">
            <a:avLst/>
          </a:prstGeom>
          <a:noFill/>
        </p:spPr>
        <p:txBody>
          <a:bodyPr wrap="square" lIns="0" rIns="0" tIns="0" bIns="0" anchor="t">
            <a:noAutofit/>
          </a:bodyPr>
          <a:lstStyle/>
          <a:p>
            <a:pPr algn="l">
              <a:lnSpc>
                <a:spcPct val="100000"/>
              </a:lnSpc>
            </a:pPr>
            <a:r>
              <a:rPr sz="1600" b="1" i="0">
                <a:solidFill>
                  <a:srgbClr val="C0392B"/>
                </a:solidFill>
                <a:latin typeface="Arial"/>
              </a:rPr>
              <a:t>My own data says: do not use my composed method. That is the result, and I am reporting it as one.</a:t>
            </a:r>
          </a:p>
        </p:txBody>
      </p:sp>
      <p:sp>
        <p:nvSpPr>
          <p:cNvPr id="23" name="TextBox 22"/>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9AA7B8"/>
                </a:solidFill>
                <a:latin typeface="Arial"/>
              </a:rPr>
              <a:t>Conclusion</a:t>
            </a:r>
          </a:p>
        </p:txBody>
      </p:sp>
      <p:sp>
        <p:nvSpPr>
          <p:cNvPr id="24" name="TextBox 23"/>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9AA7B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66928"/>
            <a:ext cx="10058400" cy="274320"/>
          </a:xfrm>
          <a:prstGeom prst="rect">
            <a:avLst/>
          </a:prstGeom>
          <a:noFill/>
        </p:spPr>
        <p:txBody>
          <a:bodyPr wrap="square" lIns="0" rIns="0" tIns="0" bIns="0" anchor="t">
            <a:noAutofit/>
          </a:bodyPr>
          <a:lstStyle/>
          <a:p>
            <a:pPr algn="l">
              <a:lnSpc>
                <a:spcPct val="100000"/>
              </a:lnSpc>
            </a:pPr>
            <a:r>
              <a:rPr sz="1250" b="1" i="0">
                <a:solidFill>
                  <a:srgbClr val="F0B429"/>
                </a:solidFill>
                <a:latin typeface="Arial"/>
              </a:rPr>
              <a:t>WHAT'S NEXT — AND I WANT YOUR VERDICT</a:t>
            </a:r>
          </a:p>
        </p:txBody>
      </p:sp>
      <p:sp>
        <p:nvSpPr>
          <p:cNvPr id="4" name="TextBox 3"/>
          <p:cNvSpPr txBox="1"/>
          <p:nvPr/>
        </p:nvSpPr>
        <p:spPr>
          <a:xfrm>
            <a:off x="777240" y="1325880"/>
            <a:ext cx="6949440" cy="1463040"/>
          </a:xfrm>
          <a:prstGeom prst="rect">
            <a:avLst/>
          </a:prstGeom>
          <a:noFill/>
        </p:spPr>
        <p:txBody>
          <a:bodyPr wrap="square" lIns="0" rIns="0" tIns="0" bIns="0" anchor="t">
            <a:noAutofit/>
          </a:bodyPr>
          <a:lstStyle/>
          <a:p>
            <a:pPr algn="l">
              <a:lnSpc>
                <a:spcPct val="110000"/>
              </a:lnSpc>
              <a:spcAft>
                <a:spcPts val="600"/>
              </a:spcAft>
            </a:pPr>
            <a:r>
              <a:rPr sz="4400" b="1" i="0">
                <a:solidFill>
                  <a:srgbClr val="F0B429"/>
                </a:solidFill>
                <a:latin typeface="Arial"/>
              </a:rPr>
              <a:t>TwinAI</a:t>
            </a:r>
          </a:p>
          <a:p>
            <a:pPr algn="l">
              <a:lnSpc>
                <a:spcPct val="110000"/>
              </a:lnSpc>
              <a:spcAft>
                <a:spcPts val="600"/>
              </a:spcAft>
            </a:pPr>
            <a:r>
              <a:rPr sz="2500" b="1" i="0">
                <a:solidFill>
                  <a:srgbClr val="FFFFFF"/>
                </a:solidFill>
                <a:latin typeface="Arial"/>
              </a:rPr>
              <a:t>How much of a life is enough?</a:t>
            </a:r>
          </a:p>
        </p:txBody>
      </p:sp>
      <p:sp>
        <p:nvSpPr>
          <p:cNvPr id="5" name="TextBox 4"/>
          <p:cNvSpPr txBox="1"/>
          <p:nvPr/>
        </p:nvSpPr>
        <p:spPr>
          <a:xfrm>
            <a:off x="777240" y="3063240"/>
            <a:ext cx="6949440" cy="1371600"/>
          </a:xfrm>
          <a:prstGeom prst="rect">
            <a:avLst/>
          </a:prstGeom>
          <a:noFill/>
        </p:spPr>
        <p:txBody>
          <a:bodyPr wrap="square" lIns="0" rIns="0" tIns="0" bIns="0" anchor="t">
            <a:noAutofit/>
          </a:bodyPr>
          <a:lstStyle/>
          <a:p>
            <a:pPr algn="l">
              <a:lnSpc>
                <a:spcPct val="130000"/>
              </a:lnSpc>
            </a:pPr>
            <a:r>
              <a:rPr sz="1800" b="0" i="0">
                <a:solidFill>
                  <a:srgbClr val="B9C6D8"/>
                </a:solidFill>
                <a:latin typeface="Arial"/>
              </a:rPr>
              <a:t>Can an AI build a faithful behavioural model of </a:t>
            </a:r>
            <a:r>
              <a:rPr sz="1800" b="1" i="0">
                <a:solidFill>
                  <a:srgbClr val="FFFFFF"/>
                </a:solidFill>
                <a:latin typeface="Arial"/>
              </a:rPr>
              <a:t>one person</a:t>
            </a:r>
            <a:r>
              <a:rPr sz="1800" b="0" i="0">
                <a:solidFill>
                  <a:srgbClr val="B9C6D8"/>
                </a:solidFill>
                <a:latin typeface="Arial"/>
              </a:rPr>
              <a:t> from their longitudinal history — and predict decisions they have never faced?</a:t>
            </a:r>
          </a:p>
        </p:txBody>
      </p:sp>
      <p:sp>
        <p:nvSpPr>
          <p:cNvPr id="6" name="Rectangle 5"/>
          <p:cNvSpPr/>
          <p:nvPr/>
        </p:nvSpPr>
        <p:spPr>
          <a:xfrm>
            <a:off x="777240" y="4526280"/>
            <a:ext cx="6949440" cy="18288"/>
          </a:xfrm>
          <a:prstGeom prst="rect">
            <a:avLst/>
          </a:prstGeom>
          <a:solidFill>
            <a:srgbClr val="3B4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754880"/>
            <a:ext cx="6949440" cy="1371600"/>
          </a:xfrm>
          <a:prstGeom prst="rect">
            <a:avLst/>
          </a:prstGeom>
          <a:noFill/>
        </p:spPr>
        <p:txBody>
          <a:bodyPr wrap="square" lIns="0" rIns="0" tIns="0" bIns="0" anchor="t">
            <a:noAutofit/>
          </a:bodyPr>
          <a:lstStyle/>
          <a:p>
            <a:pPr algn="l">
              <a:lnSpc>
                <a:spcPct val="128000"/>
              </a:lnSpc>
            </a:pPr>
            <a:r>
              <a:rPr sz="1550" b="0" i="0">
                <a:solidFill>
                  <a:srgbClr val="8CA0BA"/>
                </a:solidFill>
                <a:latin typeface="Arial"/>
              </a:rPr>
              <a:t>The same question as this paper, moved from tokens to lifetimes: if 10% of a history buys 70% of the fidelity, most of a life is redundant data. That is </a:t>
            </a:r>
            <a:r>
              <a:rPr sz="1550" b="1" i="0">
                <a:solidFill>
                  <a:srgbClr val="F0B429"/>
                </a:solidFill>
                <a:latin typeface="Arial"/>
              </a:rPr>
              <a:t>data-efficient AI, applied to people</a:t>
            </a:r>
            <a:r>
              <a:rPr sz="1550" b="0" i="0">
                <a:solidFill>
                  <a:srgbClr val="8CA0BA"/>
                </a:solidFill>
                <a:latin typeface="Arial"/>
              </a:rPr>
              <a:t>.</a:t>
            </a:r>
          </a:p>
        </p:txBody>
      </p:sp>
      <p:sp>
        <p:nvSpPr>
          <p:cNvPr id="8" name="Rectangle 7"/>
          <p:cNvSpPr/>
          <p:nvPr/>
        </p:nvSpPr>
        <p:spPr>
          <a:xfrm>
            <a:off x="8092440" y="1325880"/>
            <a:ext cx="3291840" cy="4709160"/>
          </a:xfrm>
          <a:prstGeom prst="rect">
            <a:avLst/>
          </a:prstGeom>
          <a:solidFill>
            <a:srgbClr val="1B2A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645920"/>
            <a:ext cx="2697480" cy="320040"/>
          </a:xfrm>
          <a:prstGeom prst="rect">
            <a:avLst/>
          </a:prstGeom>
          <a:noFill/>
        </p:spPr>
        <p:txBody>
          <a:bodyPr wrap="square" lIns="0" rIns="0" tIns="0" bIns="0" anchor="t">
            <a:noAutofit/>
          </a:bodyPr>
          <a:lstStyle/>
          <a:p>
            <a:pPr algn="l">
              <a:lnSpc>
                <a:spcPct val="100000"/>
              </a:lnSpc>
            </a:pPr>
            <a:r>
              <a:rPr sz="1150" b="1" i="0">
                <a:solidFill>
                  <a:srgbClr val="F0B429"/>
                </a:solidFill>
                <a:latin typeface="Arial"/>
              </a:rPr>
              <a:t>AFFORDABLE BY DESIGN</a:t>
            </a:r>
          </a:p>
        </p:txBody>
      </p:sp>
      <p:sp>
        <p:nvSpPr>
          <p:cNvPr id="10" name="Oval 9"/>
          <p:cNvSpPr/>
          <p:nvPr/>
        </p:nvSpPr>
        <p:spPr>
          <a:xfrm>
            <a:off x="8412480" y="2253996"/>
            <a:ext cx="77724" cy="77724"/>
          </a:xfrm>
          <a:prstGeom prst="ellipse">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05088" y="2148840"/>
            <a:ext cx="2404872" cy="822960"/>
          </a:xfrm>
          <a:prstGeom prst="rect">
            <a:avLst/>
          </a:prstGeom>
          <a:noFill/>
        </p:spPr>
        <p:txBody>
          <a:bodyPr wrap="square" lIns="0" rIns="0" tIns="0" bIns="0" anchor="t">
            <a:noAutofit/>
          </a:bodyPr>
          <a:lstStyle/>
          <a:p>
            <a:pPr algn="l">
              <a:lnSpc>
                <a:spcPct val="118000"/>
              </a:lnSpc>
            </a:pPr>
            <a:r>
              <a:rPr sz="1250" b="0" i="0">
                <a:solidFill>
                  <a:srgbClr val="B9C6D8"/>
                </a:solidFill>
                <a:latin typeface="Arial"/>
              </a:rPr>
              <a:t>Phase 1 — synthetic individuals, known ground truth</a:t>
            </a:r>
          </a:p>
        </p:txBody>
      </p:sp>
      <p:sp>
        <p:nvSpPr>
          <p:cNvPr id="12" name="Oval 11"/>
          <p:cNvSpPr/>
          <p:nvPr/>
        </p:nvSpPr>
        <p:spPr>
          <a:xfrm>
            <a:off x="8412480" y="3122676"/>
            <a:ext cx="77724" cy="77724"/>
          </a:xfrm>
          <a:prstGeom prst="ellipse">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705088" y="3017520"/>
            <a:ext cx="2404872" cy="822960"/>
          </a:xfrm>
          <a:prstGeom prst="rect">
            <a:avLst/>
          </a:prstGeom>
          <a:noFill/>
        </p:spPr>
        <p:txBody>
          <a:bodyPr wrap="square" lIns="0" rIns="0" tIns="0" bIns="0" anchor="t">
            <a:noAutofit/>
          </a:bodyPr>
          <a:lstStyle/>
          <a:p>
            <a:pPr algn="l">
              <a:lnSpc>
                <a:spcPct val="118000"/>
              </a:lnSpc>
            </a:pPr>
            <a:r>
              <a:rPr sz="1250" b="0" i="0">
                <a:solidFill>
                  <a:srgbClr val="B9C6D8"/>
                </a:solidFill>
                <a:latin typeface="Arial"/>
              </a:rPr>
              <a:t>Phase 2 — small consented behavioural study</a:t>
            </a:r>
          </a:p>
        </p:txBody>
      </p:sp>
      <p:sp>
        <p:nvSpPr>
          <p:cNvPr id="14" name="Oval 13"/>
          <p:cNvSpPr/>
          <p:nvPr/>
        </p:nvSpPr>
        <p:spPr>
          <a:xfrm>
            <a:off x="8412480" y="3991356"/>
            <a:ext cx="77724" cy="77724"/>
          </a:xfrm>
          <a:prstGeom prst="ellipse">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05088" y="3886200"/>
            <a:ext cx="2404872" cy="822960"/>
          </a:xfrm>
          <a:prstGeom prst="rect">
            <a:avLst/>
          </a:prstGeom>
          <a:noFill/>
        </p:spPr>
        <p:txBody>
          <a:bodyPr wrap="square" lIns="0" rIns="0" tIns="0" bIns="0" anchor="t">
            <a:noAutofit/>
          </a:bodyPr>
          <a:lstStyle/>
          <a:p>
            <a:pPr algn="l">
              <a:lnSpc>
                <a:spcPct val="118000"/>
              </a:lnSpc>
            </a:pPr>
            <a:r>
              <a:rPr sz="1250" b="0" i="0">
                <a:solidFill>
                  <a:srgbClr val="B9C6D8"/>
                </a:solidFill>
                <a:latin typeface="Arial"/>
              </a:rPr>
              <a:t>No foundation model trained: retrieval + episodic memory + light fine-tuning</a:t>
            </a:r>
          </a:p>
        </p:txBody>
      </p:sp>
      <p:sp>
        <p:nvSpPr>
          <p:cNvPr id="16" name="Oval 15"/>
          <p:cNvSpPr/>
          <p:nvPr/>
        </p:nvSpPr>
        <p:spPr>
          <a:xfrm>
            <a:off x="8412480" y="4860036"/>
            <a:ext cx="77724" cy="77724"/>
          </a:xfrm>
          <a:prstGeom prst="ellipse">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05088" y="4754880"/>
            <a:ext cx="2404872" cy="822960"/>
          </a:xfrm>
          <a:prstGeom prst="rect">
            <a:avLst/>
          </a:prstGeom>
          <a:noFill/>
        </p:spPr>
        <p:txBody>
          <a:bodyPr wrap="square" lIns="0" rIns="0" tIns="0" bIns="0" anchor="t">
            <a:noAutofit/>
          </a:bodyPr>
          <a:lstStyle/>
          <a:p>
            <a:pPr algn="l">
              <a:lnSpc>
                <a:spcPct val="118000"/>
              </a:lnSpc>
            </a:pPr>
            <a:r>
              <a:rPr sz="1250" b="0" i="0">
                <a:solidFill>
                  <a:srgbClr val="B9C6D8"/>
                </a:solidFill>
                <a:latin typeface="Arial"/>
              </a:rPr>
              <a:t>Classical ML baselines first, LLM agents last</a:t>
            </a:r>
          </a:p>
        </p:txBody>
      </p:sp>
      <p:sp>
        <p:nvSpPr>
          <p:cNvPr id="18" name="TextBox 17"/>
          <p:cNvSpPr txBox="1"/>
          <p:nvPr/>
        </p:nvSpPr>
        <p:spPr>
          <a:xfrm>
            <a:off x="8412480" y="5532120"/>
            <a:ext cx="2697480" cy="365760"/>
          </a:xfrm>
          <a:prstGeom prst="rect">
            <a:avLst/>
          </a:prstGeom>
          <a:noFill/>
        </p:spPr>
        <p:txBody>
          <a:bodyPr wrap="square" lIns="0" rIns="0" tIns="0" bIns="0" anchor="t">
            <a:noAutofit/>
          </a:bodyPr>
          <a:lstStyle/>
          <a:p>
            <a:pPr algn="l">
              <a:lnSpc>
                <a:spcPct val="100000"/>
              </a:lnSpc>
            </a:pPr>
            <a:r>
              <a:rPr sz="1250" b="1" i="0">
                <a:solidFill>
                  <a:srgbClr val="FFFFFF"/>
                </a:solidFill>
                <a:latin typeface="Arial"/>
              </a:rPr>
              <a:t>Is it doable? That is my question to you.</a:t>
            </a:r>
          </a:p>
        </p:txBody>
      </p:sp>
      <p:sp>
        <p:nvSpPr>
          <p:cNvPr id="19" name="TextBox 18"/>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53627A"/>
                </a:solidFill>
                <a:latin typeface="Arial"/>
              </a:rPr>
              <a:t>Future work</a:t>
            </a:r>
          </a:p>
        </p:txBody>
      </p:sp>
      <p:sp>
        <p:nvSpPr>
          <p:cNvPr id="20" name="TextBox 19"/>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53627A"/>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9692640" cy="2377440"/>
          </a:xfrm>
          <a:prstGeom prst="rect">
            <a:avLst/>
          </a:prstGeom>
          <a:noFill/>
        </p:spPr>
        <p:txBody>
          <a:bodyPr wrap="square" lIns="0" rIns="0" tIns="0" bIns="0" anchor="t">
            <a:noAutofit/>
          </a:bodyPr>
          <a:lstStyle/>
          <a:p>
            <a:pPr algn="l">
              <a:lnSpc>
                <a:spcPct val="118000"/>
              </a:lnSpc>
              <a:spcAft>
                <a:spcPts val="1600"/>
              </a:spcAft>
            </a:pPr>
            <a:r>
              <a:rPr sz="3000" b="1" i="0">
                <a:solidFill>
                  <a:srgbClr val="8CA0BA"/>
                </a:solidFill>
                <a:latin typeface="Arial"/>
              </a:rPr>
              <a:t>Six months ago: Python and web development.</a:t>
            </a:r>
          </a:p>
          <a:p>
            <a:pPr algn="l">
              <a:lnSpc>
                <a:spcPct val="118000"/>
              </a:lnSpc>
              <a:spcAft>
                <a:spcPts val="1600"/>
              </a:spcAft>
            </a:pPr>
            <a:r>
              <a:rPr sz="3000" b="1" i="0">
                <a:solidFill>
                  <a:srgbClr val="FFFFFF"/>
                </a:solidFill>
                <a:latin typeface="Arial"/>
              </a:rPr>
              <a:t>Today: 48 training runs and a negative result
I can defend line by line.</a:t>
            </a:r>
          </a:p>
        </p:txBody>
      </p:sp>
      <p:sp>
        <p:nvSpPr>
          <p:cNvPr id="5" name="Rectangle 4"/>
          <p:cNvSpPr/>
          <p:nvPr/>
        </p:nvSpPr>
        <p:spPr>
          <a:xfrm>
            <a:off x="914400" y="4617720"/>
            <a:ext cx="1280160" cy="50292"/>
          </a:xfrm>
          <a:prstGeom prst="rect">
            <a:avLst/>
          </a:prstGeom>
          <a:solidFill>
            <a:srgbClr val="F0B4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983480"/>
            <a:ext cx="9692640" cy="822960"/>
          </a:xfrm>
          <a:prstGeom prst="rect">
            <a:avLst/>
          </a:prstGeom>
          <a:noFill/>
        </p:spPr>
        <p:txBody>
          <a:bodyPr wrap="square" lIns="0" rIns="0" tIns="0" bIns="0" anchor="t">
            <a:noAutofit/>
          </a:bodyPr>
          <a:lstStyle/>
          <a:p>
            <a:pPr algn="l">
              <a:lnSpc>
                <a:spcPct val="135000"/>
              </a:lnSpc>
              <a:spcAft>
                <a:spcPts val="800"/>
              </a:spcAft>
            </a:pPr>
            <a:r>
              <a:rPr sz="2600" b="1" i="0">
                <a:solidFill>
                  <a:srgbClr val="F0B429"/>
                </a:solidFill>
                <a:latin typeface="Arial"/>
              </a:rPr>
              <a:t>Thank you.</a:t>
            </a:r>
          </a:p>
          <a:p>
            <a:pPr algn="l">
              <a:lnSpc>
                <a:spcPct val="135000"/>
              </a:lnSpc>
              <a:spcAft>
                <a:spcPts val="800"/>
              </a:spcAft>
            </a:pPr>
            <a:r>
              <a:rPr sz="1600" b="0" i="0">
                <a:solidFill>
                  <a:srgbClr val="B9C6D8"/>
                </a:solidFill>
                <a:latin typeface="Arial"/>
              </a:rPr>
              <a:t>Questions — and I would genuinely like your verdict on TwinAI.</a:t>
            </a:r>
          </a:p>
        </p:txBody>
      </p:sp>
      <p:sp>
        <p:nvSpPr>
          <p:cNvPr id="7" name="TextBox 6"/>
          <p:cNvSpPr txBox="1"/>
          <p:nvPr/>
        </p:nvSpPr>
        <p:spPr>
          <a:xfrm>
            <a:off x="777240" y="6327648"/>
            <a:ext cx="7315200" cy="274320"/>
          </a:xfrm>
          <a:prstGeom prst="rect">
            <a:avLst/>
          </a:prstGeom>
          <a:noFill/>
        </p:spPr>
        <p:txBody>
          <a:bodyPr wrap="square" lIns="0" rIns="0" tIns="0" bIns="0" anchor="t">
            <a:noAutofit/>
          </a:bodyPr>
          <a:lstStyle/>
          <a:p>
            <a:pPr algn="l">
              <a:lnSpc>
                <a:spcPct val="100000"/>
              </a:lnSpc>
            </a:pPr>
            <a:r>
              <a:rPr sz="1050" b="0" i="0">
                <a:solidFill>
                  <a:srgbClr val="53627A"/>
                </a:solidFill>
                <a:latin typeface="Arial"/>
              </a:rPr>
              <a:t>CG-PED  ·  Abel Tezare</a:t>
            </a:r>
          </a:p>
        </p:txBody>
      </p:sp>
      <p:sp>
        <p:nvSpPr>
          <p:cNvPr id="8" name="TextBox 7"/>
          <p:cNvSpPr txBox="1"/>
          <p:nvPr/>
        </p:nvSpPr>
        <p:spPr>
          <a:xfrm>
            <a:off x="10058400" y="6327648"/>
            <a:ext cx="1371600" cy="274320"/>
          </a:xfrm>
          <a:prstGeom prst="rect">
            <a:avLst/>
          </a:prstGeom>
          <a:noFill/>
        </p:spPr>
        <p:txBody>
          <a:bodyPr wrap="square" lIns="0" rIns="0" tIns="0" bIns="0" anchor="t">
            <a:noAutofit/>
          </a:bodyPr>
          <a:lstStyle/>
          <a:p>
            <a:pPr algn="r">
              <a:lnSpc>
                <a:spcPct val="100000"/>
              </a:lnSpc>
            </a:pPr>
            <a:r>
              <a:rPr sz="1050" b="0" i="0">
                <a:solidFill>
                  <a:srgbClr val="53627A"/>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